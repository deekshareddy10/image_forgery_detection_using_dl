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55B3C-3BAC-CD14-5285-31186E56B4DD}" v="29" dt="2026-05-09T01:19:03.309"/>
    <p1510:client id="{8CA7415D-BDB1-E04A-845F-AE8E87CECF12}" v="183" dt="2026-05-09T03:28:37.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63" d="100"/>
          <a:sy n="163" d="100"/>
        </p:scale>
        <p:origin x="18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495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sz="1300"/>
          </a:p>
        </p:txBody>
      </p:sp>
      <p:sp>
        <p:nvSpPr>
          <p:cNvPr id="8" name="Text 6"/>
          <p:cNvSpPr/>
          <p:nvPr/>
        </p:nvSpPr>
        <p:spPr>
          <a:xfrm>
            <a:off x="365760" y="731520"/>
            <a:ext cx="8412480" cy="822960"/>
          </a:xfrm>
          <a:prstGeom prst="rect">
            <a:avLst/>
          </a:prstGeom>
          <a:noFill/>
          <a:ln/>
        </p:spPr>
        <p:txBody>
          <a:bodyPr wrap="square"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IMAGE FORGERY DETECTION USING DEEP LEARNING</a:t>
            </a:r>
            <a:endParaRPr lang="en-US" sz="1300" dirty="0"/>
          </a:p>
        </p:txBody>
      </p:sp>
      <p:sp>
        <p:nvSpPr>
          <p:cNvPr id="9" name="Text 7"/>
          <p:cNvSpPr/>
          <p:nvPr/>
        </p:nvSpPr>
        <p:spPr>
          <a:xfrm>
            <a:off x="365760" y="1600200"/>
            <a:ext cx="8412480" cy="457200"/>
          </a:xfrm>
          <a:prstGeom prst="rect">
            <a:avLst/>
          </a:prstGeom>
          <a:noFill/>
          <a:ln/>
        </p:spPr>
        <p:txBody>
          <a:bodyPr wrap="square" rtlCol="0" anchor="ctr"/>
          <a:lstStyle/>
          <a:p>
            <a:pPr marL="0" indent="0">
              <a:buNone/>
            </a:pPr>
            <a:endParaRPr lang="en-US" sz="1300" dirty="0"/>
          </a:p>
        </p:txBody>
      </p:sp>
      <p:sp>
        <p:nvSpPr>
          <p:cNvPr id="10" name="Shape 8"/>
          <p:cNvSpPr/>
          <p:nvPr/>
        </p:nvSpPr>
        <p:spPr>
          <a:xfrm>
            <a:off x="459545" y="1451810"/>
            <a:ext cx="3200400" cy="36576"/>
          </a:xfrm>
          <a:prstGeom prst="rect">
            <a:avLst/>
          </a:prstGeom>
          <a:solidFill>
            <a:srgbClr val="0D9488"/>
          </a:solidFill>
          <a:ln/>
        </p:spPr>
        <p:txBody>
          <a:bodyPr/>
          <a:lstStyle/>
          <a:p>
            <a:endParaRPr lang="en-US" sz="1300"/>
          </a:p>
        </p:txBody>
      </p:sp>
      <p:sp>
        <p:nvSpPr>
          <p:cNvPr id="11" name="Text 9"/>
          <p:cNvSpPr/>
          <p:nvPr/>
        </p:nvSpPr>
        <p:spPr>
          <a:xfrm>
            <a:off x="365760" y="2331720"/>
            <a:ext cx="8412480" cy="347472"/>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Model: </a:t>
            </a:r>
            <a:r>
              <a:rPr lang="en-US" sz="1300" dirty="0">
                <a:solidFill>
                  <a:srgbClr val="CBD5E1"/>
                </a:solidFill>
                <a:latin typeface="Calibri" pitchFamily="34" charset="0"/>
                <a:ea typeface="Calibri" pitchFamily="34" charset="-122"/>
                <a:cs typeface="Calibri" pitchFamily="34" charset="-120"/>
              </a:rPr>
              <a:t>U-Net with DCT Preprocessing</a:t>
            </a:r>
            <a:endParaRPr lang="en-US" sz="1300" dirty="0"/>
          </a:p>
        </p:txBody>
      </p:sp>
      <p:sp>
        <p:nvSpPr>
          <p:cNvPr id="12" name="Text 10"/>
          <p:cNvSpPr/>
          <p:nvPr/>
        </p:nvSpPr>
        <p:spPr>
          <a:xfrm>
            <a:off x="365760" y="2679192"/>
            <a:ext cx="8412480" cy="347472"/>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Dataset: </a:t>
            </a:r>
            <a:r>
              <a:rPr lang="en-US" sz="1300" dirty="0">
                <a:solidFill>
                  <a:srgbClr val="CBD5E1"/>
                </a:solidFill>
                <a:latin typeface="Calibri" pitchFamily="34" charset="0"/>
                <a:ea typeface="Calibri" pitchFamily="34" charset="-122"/>
                <a:cs typeface="Calibri" pitchFamily="34" charset="-120"/>
              </a:rPr>
              <a:t>CoMoFoD</a:t>
            </a:r>
            <a:endParaRPr lang="en-US" sz="1300" dirty="0"/>
          </a:p>
        </p:txBody>
      </p:sp>
      <p:sp>
        <p:nvSpPr>
          <p:cNvPr id="13" name="Text 11"/>
          <p:cNvSpPr/>
          <p:nvPr/>
        </p:nvSpPr>
        <p:spPr>
          <a:xfrm>
            <a:off x="365760" y="3042756"/>
            <a:ext cx="8412480" cy="347472"/>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Stack: </a:t>
            </a:r>
            <a:r>
              <a:rPr lang="en-US" sz="1300" dirty="0">
                <a:solidFill>
                  <a:srgbClr val="CBD5E1"/>
                </a:solidFill>
                <a:latin typeface="Calibri" pitchFamily="34" charset="0"/>
                <a:ea typeface="Calibri" pitchFamily="34" charset="-122"/>
                <a:cs typeface="Calibri" pitchFamily="34" charset="-120"/>
              </a:rPr>
              <a:t>Python 3.10 · TensorFlow · Flask</a:t>
            </a:r>
            <a:endParaRPr lang="en-US" sz="1300" dirty="0"/>
          </a:p>
        </p:txBody>
      </p:sp>
      <p:sp>
        <p:nvSpPr>
          <p:cNvPr id="14" name="Text 12"/>
          <p:cNvSpPr/>
          <p:nvPr/>
        </p:nvSpPr>
        <p:spPr>
          <a:xfrm>
            <a:off x="365760" y="3406320"/>
            <a:ext cx="8412480" cy="347472"/>
          </a:xfrm>
          <a:prstGeom prst="rect">
            <a:avLst/>
          </a:prstGeom>
          <a:noFill/>
          <a:ln/>
        </p:spPr>
        <p:txBody>
          <a:bodyPr wrap="square" lIns="91440" tIns="45720" rIns="91440" bIns="45720" rtlCol="0" anchor="ctr"/>
          <a:lstStyle/>
          <a:p>
            <a:r>
              <a:rPr lang="en-US" sz="1300" b="1" dirty="0">
                <a:solidFill>
                  <a:srgbClr val="14B8A6"/>
                </a:solidFill>
                <a:latin typeface="Calibri"/>
                <a:ea typeface="Calibri"/>
                <a:cs typeface="Calibri"/>
              </a:rPr>
              <a:t>Repo: </a:t>
            </a:r>
            <a:r>
              <a:rPr lang="en-US" sz="1300" b="1" dirty="0">
                <a:solidFill>
                  <a:schemeClr val="bg1"/>
                </a:solidFill>
                <a:latin typeface="Calibri"/>
                <a:ea typeface="Calibri"/>
                <a:cs typeface="Calibri"/>
              </a:rPr>
              <a:t>https://</a:t>
            </a:r>
            <a:r>
              <a:rPr lang="en-US" sz="1300" b="1" dirty="0" err="1">
                <a:solidFill>
                  <a:schemeClr val="bg1"/>
                </a:solidFill>
                <a:latin typeface="Calibri"/>
                <a:ea typeface="Calibri"/>
                <a:cs typeface="Calibri"/>
              </a:rPr>
              <a:t>github.com</a:t>
            </a:r>
            <a:r>
              <a:rPr lang="en-US" sz="1300" b="1" dirty="0">
                <a:solidFill>
                  <a:schemeClr val="bg1"/>
                </a:solidFill>
                <a:latin typeface="Calibri"/>
                <a:ea typeface="Calibri"/>
                <a:cs typeface="Calibri"/>
              </a:rPr>
              <a:t>/Deekshareddy10/</a:t>
            </a:r>
            <a:r>
              <a:rPr lang="en-US" sz="1300" b="1" dirty="0" err="1">
                <a:solidFill>
                  <a:schemeClr val="bg1"/>
                </a:solidFill>
                <a:latin typeface="Calibri"/>
                <a:ea typeface="Calibri"/>
                <a:cs typeface="Calibri"/>
              </a:rPr>
              <a:t>Image_forgery_detection_using_DL</a:t>
            </a:r>
            <a:r>
              <a:rPr lang="en-US" sz="1300" b="1" dirty="0">
                <a:solidFill>
                  <a:schemeClr val="bg1"/>
                </a:solidFill>
                <a:latin typeface="Calibri"/>
                <a:ea typeface="Calibri"/>
                <a:cs typeface="Calibri"/>
              </a:rPr>
              <a:t>/tree/main</a:t>
            </a:r>
            <a:endParaRPr lang="en-US" sz="1300" dirty="0">
              <a:solidFill>
                <a:schemeClr val="bg1"/>
              </a:solidFill>
              <a:latin typeface="Calibri"/>
              <a:ea typeface="Calibri"/>
              <a:cs typeface="Calibri"/>
            </a:endParaRPr>
          </a:p>
        </p:txBody>
      </p:sp>
      <p:sp>
        <p:nvSpPr>
          <p:cNvPr id="16" name="Text 14"/>
          <p:cNvSpPr/>
          <p:nvPr/>
        </p:nvSpPr>
        <p:spPr>
          <a:xfrm>
            <a:off x="177867" y="4692958"/>
            <a:ext cx="8778240" cy="347472"/>
          </a:xfrm>
          <a:prstGeom prst="rect">
            <a:avLst/>
          </a:prstGeom>
          <a:noFill/>
          <a:ln/>
        </p:spPr>
        <p:txBody>
          <a:bodyPr wrap="square" rtlCol="0" anchor="ctr"/>
          <a:lstStyle/>
          <a:p>
            <a:pPr marL="0" indent="0">
              <a:buNone/>
            </a:pPr>
            <a:endParaRPr lang="en-US" sz="1300" dirty="0"/>
          </a:p>
        </p:txBody>
      </p:sp>
      <p:sp>
        <p:nvSpPr>
          <p:cNvPr id="20" name="TextBox 19">
            <a:extLst>
              <a:ext uri="{FF2B5EF4-FFF2-40B4-BE49-F238E27FC236}">
                <a16:creationId xmlns:a16="http://schemas.microsoft.com/office/drawing/2014/main" id="{D04CC981-0019-A7A5-898A-C188A0E7705C}"/>
              </a:ext>
            </a:extLst>
          </p:cNvPr>
          <p:cNvSpPr txBox="1"/>
          <p:nvPr/>
        </p:nvSpPr>
        <p:spPr>
          <a:xfrm>
            <a:off x="365760" y="2010806"/>
            <a:ext cx="6816578" cy="292388"/>
          </a:xfrm>
          <a:prstGeom prst="rect">
            <a:avLst/>
          </a:prstGeom>
          <a:noFill/>
        </p:spPr>
        <p:txBody>
          <a:bodyPr wrap="square">
            <a:spAutoFit/>
          </a:bodyPr>
          <a:lstStyle/>
          <a:p>
            <a:pPr marL="0" indent="0">
              <a:buNone/>
            </a:pPr>
            <a:r>
              <a:rPr lang="en-US" sz="1300" b="1" dirty="0">
                <a:solidFill>
                  <a:srgbClr val="14B8A6"/>
                </a:solidFill>
                <a:latin typeface="Calibri" pitchFamily="34" charset="0"/>
                <a:ea typeface="Calibri" pitchFamily="34" charset="-122"/>
                <a:cs typeface="Calibri" pitchFamily="34" charset="-120"/>
              </a:rPr>
              <a:t>Team Members: </a:t>
            </a:r>
            <a:r>
              <a:rPr lang="en-US" sz="1300" b="1" dirty="0">
                <a:solidFill>
                  <a:srgbClr val="CBD5E1"/>
                </a:solidFill>
                <a:latin typeface="Calibri" pitchFamily="34" charset="0"/>
                <a:ea typeface="Calibri" pitchFamily="34" charset="-122"/>
                <a:cs typeface="Calibri" pitchFamily="34" charset="-120"/>
              </a:rPr>
              <a:t>Spandana </a:t>
            </a:r>
            <a:r>
              <a:rPr lang="en-US" sz="1300" b="1" dirty="0" err="1">
                <a:solidFill>
                  <a:srgbClr val="CBD5E1"/>
                </a:solidFill>
                <a:latin typeface="Calibri" pitchFamily="34" charset="0"/>
                <a:ea typeface="Calibri" pitchFamily="34" charset="-122"/>
                <a:cs typeface="Calibri" pitchFamily="34" charset="-120"/>
              </a:rPr>
              <a:t>Erukulla</a:t>
            </a:r>
            <a:r>
              <a:rPr lang="en-US" sz="1300" b="1" dirty="0">
                <a:solidFill>
                  <a:srgbClr val="CBD5E1"/>
                </a:solidFill>
                <a:latin typeface="Calibri" pitchFamily="34" charset="0"/>
                <a:ea typeface="Calibri" pitchFamily="34" charset="-122"/>
                <a:cs typeface="Calibri" pitchFamily="34" charset="-120"/>
              </a:rPr>
              <a:t>, Deeksha Reddy Patlolla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4" name="Shape 2"/>
          <p:cNvSpPr/>
          <p:nvPr/>
        </p:nvSpPr>
        <p:spPr>
          <a:xfrm>
            <a:off x="274320" y="868680"/>
            <a:ext cx="3931920" cy="38404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5" name="Shape 3"/>
          <p:cNvSpPr/>
          <p:nvPr/>
        </p:nvSpPr>
        <p:spPr>
          <a:xfrm>
            <a:off x="274320" y="868680"/>
            <a:ext cx="3931920" cy="54864"/>
          </a:xfrm>
          <a:prstGeom prst="rect">
            <a:avLst/>
          </a:prstGeom>
          <a:solidFill>
            <a:srgbClr val="0D9488"/>
          </a:solidFill>
          <a:ln/>
        </p:spPr>
        <p:txBody>
          <a:bodyPr/>
          <a:lstStyle/>
          <a:p>
            <a:endParaRPr lang="en-US"/>
          </a:p>
        </p:txBody>
      </p:sp>
      <p:sp>
        <p:nvSpPr>
          <p:cNvPr id="6" name="Text 4"/>
          <p:cNvSpPr/>
          <p:nvPr/>
        </p:nvSpPr>
        <p:spPr>
          <a:xfrm>
            <a:off x="411480" y="960120"/>
            <a:ext cx="3657600" cy="365760"/>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The Problem</a:t>
            </a:r>
            <a:endParaRPr lang="en-US" sz="1600" dirty="0"/>
          </a:p>
        </p:txBody>
      </p:sp>
      <p:sp>
        <p:nvSpPr>
          <p:cNvPr id="7" name="Text 5"/>
          <p:cNvSpPr/>
          <p:nvPr/>
        </p:nvSpPr>
        <p:spPr>
          <a:xfrm>
            <a:off x="411480" y="1417320"/>
            <a:ext cx="3657600" cy="594360"/>
          </a:xfrm>
          <a:prstGeom prst="rect">
            <a:avLst/>
          </a:prstGeom>
          <a:noFill/>
          <a:ln/>
        </p:spPr>
        <p:txBody>
          <a:bodyPr wrap="square" rtlCol="0" anchor="t"/>
          <a:lstStyle/>
          <a:p>
            <a:pPr marL="0" indent="0">
              <a:buNone/>
            </a:pPr>
            <a:r>
              <a:rPr lang="en-US" sz="1300" dirty="0">
                <a:solidFill>
                  <a:srgbClr val="0D1B3E"/>
                </a:solidFill>
                <a:latin typeface="Calibri" pitchFamily="34" charset="0"/>
                <a:ea typeface="Calibri" pitchFamily="34" charset="-122"/>
                <a:cs typeface="Calibri" pitchFamily="34" charset="-120"/>
              </a:rPr>
              <a:t>▸  Digital photos can be manipulated easily with tools like Photoshop &amp; AI-based inpainting</a:t>
            </a:r>
            <a:endParaRPr lang="en-US" sz="1300" dirty="0"/>
          </a:p>
        </p:txBody>
      </p:sp>
      <p:sp>
        <p:nvSpPr>
          <p:cNvPr id="8" name="Text 6"/>
          <p:cNvSpPr/>
          <p:nvPr/>
        </p:nvSpPr>
        <p:spPr>
          <a:xfrm>
            <a:off x="411480" y="2103120"/>
            <a:ext cx="3657600" cy="594360"/>
          </a:xfrm>
          <a:prstGeom prst="rect">
            <a:avLst/>
          </a:prstGeom>
          <a:noFill/>
          <a:ln/>
        </p:spPr>
        <p:txBody>
          <a:bodyPr wrap="square" rtlCol="0" anchor="t"/>
          <a:lstStyle/>
          <a:p>
            <a:pPr marL="0" indent="0">
              <a:buNone/>
            </a:pPr>
            <a:r>
              <a:rPr lang="en-US" sz="1300" dirty="0">
                <a:solidFill>
                  <a:srgbClr val="0D1B3E"/>
                </a:solidFill>
                <a:latin typeface="Calibri" pitchFamily="34" charset="0"/>
                <a:ea typeface="Calibri" pitchFamily="34" charset="-122"/>
                <a:cs typeface="Calibri" pitchFamily="34" charset="-120"/>
              </a:rPr>
              <a:t>▸  Human eyes cannot reliably detect subtle forgeries</a:t>
            </a:r>
            <a:endParaRPr lang="en-US" sz="1300" dirty="0"/>
          </a:p>
        </p:txBody>
      </p:sp>
      <p:sp>
        <p:nvSpPr>
          <p:cNvPr id="9" name="Text 7"/>
          <p:cNvSpPr/>
          <p:nvPr/>
        </p:nvSpPr>
        <p:spPr>
          <a:xfrm>
            <a:off x="411480" y="2788920"/>
            <a:ext cx="3657600" cy="594360"/>
          </a:xfrm>
          <a:prstGeom prst="rect">
            <a:avLst/>
          </a:prstGeom>
          <a:noFill/>
          <a:ln/>
        </p:spPr>
        <p:txBody>
          <a:bodyPr wrap="square" rtlCol="0" anchor="t"/>
          <a:lstStyle/>
          <a:p>
            <a:pPr marL="0" indent="0">
              <a:buNone/>
            </a:pPr>
            <a:r>
              <a:rPr lang="en-US" sz="1300" dirty="0">
                <a:solidFill>
                  <a:srgbClr val="0D1B3E"/>
                </a:solidFill>
                <a:latin typeface="Calibri" pitchFamily="34" charset="0"/>
                <a:ea typeface="Calibri" pitchFamily="34" charset="-122"/>
                <a:cs typeface="Calibri" pitchFamily="34" charset="-120"/>
              </a:rPr>
              <a:t>▸  Forged images spread disinformation, tamper with evidence, and corrupt scientific literature</a:t>
            </a:r>
            <a:endParaRPr lang="en-US" sz="1300" dirty="0"/>
          </a:p>
        </p:txBody>
      </p:sp>
      <p:sp>
        <p:nvSpPr>
          <p:cNvPr id="10" name="Text 8"/>
          <p:cNvSpPr/>
          <p:nvPr/>
        </p:nvSpPr>
        <p:spPr>
          <a:xfrm>
            <a:off x="411480" y="3474720"/>
            <a:ext cx="3657600" cy="594360"/>
          </a:xfrm>
          <a:prstGeom prst="rect">
            <a:avLst/>
          </a:prstGeom>
          <a:noFill/>
          <a:ln/>
        </p:spPr>
        <p:txBody>
          <a:bodyPr wrap="square" rtlCol="0" anchor="t"/>
          <a:lstStyle/>
          <a:p>
            <a:pPr marL="0" indent="0">
              <a:buNone/>
            </a:pPr>
            <a:r>
              <a:rPr lang="en-US" sz="1300" dirty="0">
                <a:solidFill>
                  <a:srgbClr val="0D1B3E"/>
                </a:solidFill>
                <a:latin typeface="Calibri" pitchFamily="34" charset="0"/>
                <a:ea typeface="Calibri" pitchFamily="34" charset="-122"/>
                <a:cs typeface="Calibri" pitchFamily="34" charset="-120"/>
              </a:rPr>
              <a:t>▸  Automated, scalable detection is urgently needed</a:t>
            </a:r>
            <a:endParaRPr lang="en-US" sz="1300" dirty="0"/>
          </a:p>
        </p:txBody>
      </p:sp>
      <p:sp>
        <p:nvSpPr>
          <p:cNvPr id="11" name="Shape 9"/>
          <p:cNvSpPr/>
          <p:nvPr/>
        </p:nvSpPr>
        <p:spPr>
          <a:xfrm>
            <a:off x="4480560" y="868680"/>
            <a:ext cx="4389120" cy="17373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2" name="Shape 10"/>
          <p:cNvSpPr/>
          <p:nvPr/>
        </p:nvSpPr>
        <p:spPr>
          <a:xfrm>
            <a:off x="4480560" y="868680"/>
            <a:ext cx="4389120" cy="54864"/>
          </a:xfrm>
          <a:prstGeom prst="rect">
            <a:avLst/>
          </a:prstGeom>
          <a:solidFill>
            <a:srgbClr val="0D9488"/>
          </a:solidFill>
          <a:ln/>
        </p:spPr>
        <p:txBody>
          <a:bodyPr/>
          <a:lstStyle/>
          <a:p>
            <a:endParaRPr lang="en-US"/>
          </a:p>
        </p:txBody>
      </p:sp>
      <p:sp>
        <p:nvSpPr>
          <p:cNvPr id="13" name="Text 11"/>
          <p:cNvSpPr/>
          <p:nvPr/>
        </p:nvSpPr>
        <p:spPr>
          <a:xfrm>
            <a:off x="4617720" y="960120"/>
            <a:ext cx="4114800" cy="320040"/>
          </a:xfrm>
          <a:prstGeom prst="rect">
            <a:avLst/>
          </a:prstGeom>
          <a:noFill/>
          <a:ln/>
        </p:spPr>
        <p:txBody>
          <a:bodyPr wrap="square" rtlCol="0" anchor="ctr"/>
          <a:lstStyle/>
          <a:p>
            <a:pPr marL="0" indent="0">
              <a:buNone/>
            </a:pPr>
            <a:r>
              <a:rPr lang="en-US" sz="1500" b="1" dirty="0">
                <a:solidFill>
                  <a:srgbClr val="0D1B3E"/>
                </a:solidFill>
                <a:latin typeface="Calibri" pitchFamily="34" charset="0"/>
                <a:ea typeface="Calibri" pitchFamily="34" charset="-122"/>
                <a:cs typeface="Calibri" pitchFamily="34" charset="-120"/>
              </a:rPr>
              <a:t>Copy-Move Forgery</a:t>
            </a:r>
            <a:endParaRPr lang="en-US" sz="1500" dirty="0"/>
          </a:p>
        </p:txBody>
      </p:sp>
      <p:sp>
        <p:nvSpPr>
          <p:cNvPr id="14" name="Text 12"/>
          <p:cNvSpPr/>
          <p:nvPr/>
        </p:nvSpPr>
        <p:spPr>
          <a:xfrm>
            <a:off x="4617720" y="1325880"/>
            <a:ext cx="4114800" cy="548640"/>
          </a:xfrm>
          <a:prstGeom prst="rect">
            <a:avLst/>
          </a:prstGeom>
          <a:noFill/>
          <a:ln/>
        </p:spPr>
        <p:txBody>
          <a:bodyPr wrap="square" rtlCol="0" anchor="ctr"/>
          <a:lstStyle/>
          <a:p>
            <a:pPr marL="0" indent="0">
              <a:buNone/>
            </a:pPr>
            <a:r>
              <a:rPr lang="en-US" sz="1300" dirty="0">
                <a:solidFill>
                  <a:srgbClr val="0D1B3E"/>
                </a:solidFill>
                <a:latin typeface="Calibri" pitchFamily="34" charset="0"/>
                <a:ea typeface="Calibri" pitchFamily="34" charset="-122"/>
                <a:cs typeface="Calibri" pitchFamily="34" charset="-120"/>
              </a:rPr>
              <a:t>A region is copied and pasted within the same image to hide or duplicate objects.</a:t>
            </a:r>
            <a:endParaRPr lang="en-US" sz="1300" dirty="0"/>
          </a:p>
        </p:txBody>
      </p:sp>
      <p:sp>
        <p:nvSpPr>
          <p:cNvPr id="15" name="Text 13"/>
          <p:cNvSpPr/>
          <p:nvPr/>
        </p:nvSpPr>
        <p:spPr>
          <a:xfrm>
            <a:off x="4617720" y="1920240"/>
            <a:ext cx="4114800" cy="36576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Example: Hiding a person by cloning background over them.</a:t>
            </a:r>
            <a:endParaRPr lang="en-US" sz="1200" dirty="0"/>
          </a:p>
        </p:txBody>
      </p:sp>
      <p:sp>
        <p:nvSpPr>
          <p:cNvPr id="16" name="Shape 14"/>
          <p:cNvSpPr/>
          <p:nvPr/>
        </p:nvSpPr>
        <p:spPr>
          <a:xfrm>
            <a:off x="4480560" y="2834640"/>
            <a:ext cx="4389120" cy="1783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7" name="Shape 15"/>
          <p:cNvSpPr/>
          <p:nvPr/>
        </p:nvSpPr>
        <p:spPr>
          <a:xfrm>
            <a:off x="4480560" y="2834640"/>
            <a:ext cx="4389120" cy="54864"/>
          </a:xfrm>
          <a:prstGeom prst="rect">
            <a:avLst/>
          </a:prstGeom>
          <a:solidFill>
            <a:srgbClr val="E53E3E"/>
          </a:solidFill>
          <a:ln/>
        </p:spPr>
        <p:txBody>
          <a:bodyPr/>
          <a:lstStyle/>
          <a:p>
            <a:endParaRPr lang="en-US"/>
          </a:p>
        </p:txBody>
      </p:sp>
      <p:sp>
        <p:nvSpPr>
          <p:cNvPr id="18" name="Text 16"/>
          <p:cNvSpPr/>
          <p:nvPr/>
        </p:nvSpPr>
        <p:spPr>
          <a:xfrm>
            <a:off x="4617720" y="2926080"/>
            <a:ext cx="4114800" cy="320040"/>
          </a:xfrm>
          <a:prstGeom prst="rect">
            <a:avLst/>
          </a:prstGeom>
          <a:noFill/>
          <a:ln/>
        </p:spPr>
        <p:txBody>
          <a:bodyPr wrap="square" rtlCol="0" anchor="ctr"/>
          <a:lstStyle/>
          <a:p>
            <a:pPr marL="0" indent="0">
              <a:buNone/>
            </a:pPr>
            <a:r>
              <a:rPr lang="en-US" sz="1500" b="1" dirty="0">
                <a:solidFill>
                  <a:srgbClr val="0D1B3E"/>
                </a:solidFill>
                <a:latin typeface="Calibri" pitchFamily="34" charset="0"/>
                <a:ea typeface="Calibri" pitchFamily="34" charset="-122"/>
                <a:cs typeface="Calibri" pitchFamily="34" charset="-120"/>
              </a:rPr>
              <a:t>Splicing Forgery</a:t>
            </a:r>
            <a:endParaRPr lang="en-US" sz="1500" dirty="0"/>
          </a:p>
        </p:txBody>
      </p:sp>
      <p:sp>
        <p:nvSpPr>
          <p:cNvPr id="19" name="Text 17"/>
          <p:cNvSpPr/>
          <p:nvPr/>
        </p:nvSpPr>
        <p:spPr>
          <a:xfrm>
            <a:off x="4617720" y="3291840"/>
            <a:ext cx="4114800" cy="548640"/>
          </a:xfrm>
          <a:prstGeom prst="rect">
            <a:avLst/>
          </a:prstGeom>
          <a:noFill/>
          <a:ln/>
        </p:spPr>
        <p:txBody>
          <a:bodyPr wrap="square" rtlCol="0" anchor="ctr"/>
          <a:lstStyle/>
          <a:p>
            <a:pPr marL="0" indent="0">
              <a:buNone/>
            </a:pPr>
            <a:r>
              <a:rPr lang="en-US" sz="1300" dirty="0">
                <a:solidFill>
                  <a:srgbClr val="0D1B3E"/>
                </a:solidFill>
                <a:latin typeface="Calibri" pitchFamily="34" charset="0"/>
                <a:ea typeface="Calibri" pitchFamily="34" charset="-122"/>
                <a:cs typeface="Calibri" pitchFamily="34" charset="-120"/>
              </a:rPr>
              <a:t>Regions from different images are merged to create a misleading composite.</a:t>
            </a:r>
            <a:endParaRPr lang="en-US" sz="1300" dirty="0"/>
          </a:p>
        </p:txBody>
      </p:sp>
      <p:sp>
        <p:nvSpPr>
          <p:cNvPr id="20" name="Text 18"/>
          <p:cNvSpPr/>
          <p:nvPr/>
        </p:nvSpPr>
        <p:spPr>
          <a:xfrm>
            <a:off x="4617720" y="3886200"/>
            <a:ext cx="4114800" cy="36576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Example: Placing a person at a location they never visited.</a:t>
            </a:r>
            <a:endParaRPr lang="en-US" sz="1200" dirty="0"/>
          </a:p>
        </p:txBody>
      </p:sp>
      <p:sp>
        <p:nvSpPr>
          <p:cNvPr id="21" name="Shape 19"/>
          <p:cNvSpPr/>
          <p:nvPr/>
        </p:nvSpPr>
        <p:spPr>
          <a:xfrm>
            <a:off x="0" y="4846320"/>
            <a:ext cx="9144000" cy="0"/>
          </a:xfrm>
          <a:prstGeom prst="line">
            <a:avLst/>
          </a:prstGeom>
          <a:noFill/>
          <a:ln w="25400">
            <a:solidFill>
              <a:srgbClr val="0D9488"/>
            </a:solidFill>
            <a:prstDash val="solid"/>
          </a:ln>
        </p:spPr>
        <p:txBody>
          <a:bodyPr/>
          <a:lstStyle/>
          <a:p>
            <a:endParaRPr lang="en-US"/>
          </a:p>
        </p:txBody>
      </p:sp>
      <p:sp>
        <p:nvSpPr>
          <p:cNvPr id="22" name="Text 20"/>
          <p:cNvSpPr/>
          <p:nvPr/>
        </p:nvSpPr>
        <p:spPr>
          <a:xfrm>
            <a:off x="182880" y="4873752"/>
            <a:ext cx="8778240" cy="246888"/>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Goal: Automatically detect and localize tampered regions , outputting a pixel-level mask + REAL/FORGED label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Motivation</a:t>
            </a:r>
            <a:endParaRPr lang="en-US" sz="2600" dirty="0"/>
          </a:p>
        </p:txBody>
      </p:sp>
      <p:sp>
        <p:nvSpPr>
          <p:cNvPr id="4" name="Shape 2"/>
          <p:cNvSpPr/>
          <p:nvPr/>
        </p:nvSpPr>
        <p:spPr>
          <a:xfrm>
            <a:off x="274320" y="86868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5" name="Shape 3"/>
          <p:cNvSpPr/>
          <p:nvPr/>
        </p:nvSpPr>
        <p:spPr>
          <a:xfrm>
            <a:off x="274320" y="868680"/>
            <a:ext cx="2743200" cy="64008"/>
          </a:xfrm>
          <a:prstGeom prst="rect">
            <a:avLst/>
          </a:prstGeom>
          <a:solidFill>
            <a:srgbClr val="0D9488"/>
          </a:solidFill>
          <a:ln/>
        </p:spPr>
        <p:txBody>
          <a:bodyPr/>
          <a:lstStyle/>
          <a:p>
            <a:endParaRPr lang="en-US"/>
          </a:p>
        </p:txBody>
      </p:sp>
      <p:sp>
        <p:nvSpPr>
          <p:cNvPr id="6" name="Text 4"/>
          <p:cNvSpPr/>
          <p:nvPr/>
        </p:nvSpPr>
        <p:spPr>
          <a:xfrm>
            <a:off x="384048" y="97840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Journalism</a:t>
            </a:r>
            <a:endParaRPr lang="en-US" sz="1400" dirty="0"/>
          </a:p>
        </p:txBody>
      </p:sp>
      <p:sp>
        <p:nvSpPr>
          <p:cNvPr id="7" name="Text 5"/>
          <p:cNvSpPr/>
          <p:nvPr/>
        </p:nvSpPr>
        <p:spPr>
          <a:xfrm>
            <a:off x="384048" y="134416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Verify image authenticity before publication</a:t>
            </a:r>
            <a:endParaRPr lang="en-US" sz="1200" dirty="0"/>
          </a:p>
        </p:txBody>
      </p:sp>
      <p:sp>
        <p:nvSpPr>
          <p:cNvPr id="8" name="Shape 6"/>
          <p:cNvSpPr/>
          <p:nvPr/>
        </p:nvSpPr>
        <p:spPr>
          <a:xfrm>
            <a:off x="3218688" y="86868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9" name="Shape 7"/>
          <p:cNvSpPr/>
          <p:nvPr/>
        </p:nvSpPr>
        <p:spPr>
          <a:xfrm>
            <a:off x="3218688" y="868680"/>
            <a:ext cx="2743200" cy="64008"/>
          </a:xfrm>
          <a:prstGeom prst="rect">
            <a:avLst/>
          </a:prstGeom>
          <a:solidFill>
            <a:srgbClr val="0D9488"/>
          </a:solidFill>
          <a:ln/>
        </p:spPr>
        <p:txBody>
          <a:bodyPr/>
          <a:lstStyle/>
          <a:p>
            <a:endParaRPr lang="en-US"/>
          </a:p>
        </p:txBody>
      </p:sp>
      <p:sp>
        <p:nvSpPr>
          <p:cNvPr id="10" name="Text 8"/>
          <p:cNvSpPr/>
          <p:nvPr/>
        </p:nvSpPr>
        <p:spPr>
          <a:xfrm>
            <a:off x="3328416" y="97840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Law Enforcement</a:t>
            </a:r>
            <a:endParaRPr lang="en-US" sz="1400" dirty="0"/>
          </a:p>
        </p:txBody>
      </p:sp>
      <p:sp>
        <p:nvSpPr>
          <p:cNvPr id="11" name="Text 9"/>
          <p:cNvSpPr/>
          <p:nvPr/>
        </p:nvSpPr>
        <p:spPr>
          <a:xfrm>
            <a:off x="3328416" y="134416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Detect tampered digital evidence</a:t>
            </a:r>
            <a:endParaRPr lang="en-US" sz="1200" dirty="0"/>
          </a:p>
        </p:txBody>
      </p:sp>
      <p:sp>
        <p:nvSpPr>
          <p:cNvPr id="12" name="Shape 10"/>
          <p:cNvSpPr/>
          <p:nvPr/>
        </p:nvSpPr>
        <p:spPr>
          <a:xfrm>
            <a:off x="6163056" y="86868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3" name="Shape 11"/>
          <p:cNvSpPr/>
          <p:nvPr/>
        </p:nvSpPr>
        <p:spPr>
          <a:xfrm>
            <a:off x="6163056" y="868680"/>
            <a:ext cx="2743200" cy="64008"/>
          </a:xfrm>
          <a:prstGeom prst="rect">
            <a:avLst/>
          </a:prstGeom>
          <a:solidFill>
            <a:srgbClr val="0D9488"/>
          </a:solidFill>
          <a:ln/>
        </p:spPr>
        <p:txBody>
          <a:bodyPr/>
          <a:lstStyle/>
          <a:p>
            <a:endParaRPr lang="en-US"/>
          </a:p>
        </p:txBody>
      </p:sp>
      <p:sp>
        <p:nvSpPr>
          <p:cNvPr id="14" name="Text 12"/>
          <p:cNvSpPr/>
          <p:nvPr/>
        </p:nvSpPr>
        <p:spPr>
          <a:xfrm>
            <a:off x="6272784" y="97840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Academic Integrity</a:t>
            </a:r>
            <a:endParaRPr lang="en-US" sz="1400" dirty="0"/>
          </a:p>
        </p:txBody>
      </p:sp>
      <p:sp>
        <p:nvSpPr>
          <p:cNvPr id="15" name="Text 13"/>
          <p:cNvSpPr/>
          <p:nvPr/>
        </p:nvSpPr>
        <p:spPr>
          <a:xfrm>
            <a:off x="6272784" y="134416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Catch manipulated research figures</a:t>
            </a:r>
            <a:endParaRPr lang="en-US" sz="1200" dirty="0"/>
          </a:p>
        </p:txBody>
      </p:sp>
      <p:sp>
        <p:nvSpPr>
          <p:cNvPr id="16" name="Shape 14"/>
          <p:cNvSpPr/>
          <p:nvPr/>
        </p:nvSpPr>
        <p:spPr>
          <a:xfrm>
            <a:off x="274320" y="260604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7" name="Shape 15"/>
          <p:cNvSpPr/>
          <p:nvPr/>
        </p:nvSpPr>
        <p:spPr>
          <a:xfrm>
            <a:off x="274320" y="2606040"/>
            <a:ext cx="2743200" cy="64008"/>
          </a:xfrm>
          <a:prstGeom prst="rect">
            <a:avLst/>
          </a:prstGeom>
          <a:solidFill>
            <a:srgbClr val="0D9488"/>
          </a:solidFill>
          <a:ln/>
        </p:spPr>
        <p:txBody>
          <a:bodyPr/>
          <a:lstStyle/>
          <a:p>
            <a:endParaRPr lang="en-US"/>
          </a:p>
        </p:txBody>
      </p:sp>
      <p:sp>
        <p:nvSpPr>
          <p:cNvPr id="18" name="Text 16"/>
          <p:cNvSpPr/>
          <p:nvPr/>
        </p:nvSpPr>
        <p:spPr>
          <a:xfrm>
            <a:off x="384048" y="271576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Insurance Fraud</a:t>
            </a:r>
            <a:endParaRPr lang="en-US" sz="1400" dirty="0"/>
          </a:p>
        </p:txBody>
      </p:sp>
      <p:sp>
        <p:nvSpPr>
          <p:cNvPr id="19" name="Text 17"/>
          <p:cNvSpPr/>
          <p:nvPr/>
        </p:nvSpPr>
        <p:spPr>
          <a:xfrm>
            <a:off x="384048" y="308152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Flag altered claim photos automatically</a:t>
            </a:r>
            <a:endParaRPr lang="en-US" sz="1200" dirty="0"/>
          </a:p>
        </p:txBody>
      </p:sp>
      <p:sp>
        <p:nvSpPr>
          <p:cNvPr id="20" name="Shape 18"/>
          <p:cNvSpPr/>
          <p:nvPr/>
        </p:nvSpPr>
        <p:spPr>
          <a:xfrm>
            <a:off x="3218688" y="260604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1" name="Shape 19"/>
          <p:cNvSpPr/>
          <p:nvPr/>
        </p:nvSpPr>
        <p:spPr>
          <a:xfrm>
            <a:off x="3218688" y="2606040"/>
            <a:ext cx="2743200" cy="64008"/>
          </a:xfrm>
          <a:prstGeom prst="rect">
            <a:avLst/>
          </a:prstGeom>
          <a:solidFill>
            <a:srgbClr val="0D9488"/>
          </a:solidFill>
          <a:ln/>
        </p:spPr>
        <p:txBody>
          <a:bodyPr/>
          <a:lstStyle/>
          <a:p>
            <a:endParaRPr lang="en-US"/>
          </a:p>
        </p:txBody>
      </p:sp>
      <p:sp>
        <p:nvSpPr>
          <p:cNvPr id="22" name="Text 20"/>
          <p:cNvSpPr/>
          <p:nvPr/>
        </p:nvSpPr>
        <p:spPr>
          <a:xfrm>
            <a:off x="3328416" y="271576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Social Media</a:t>
            </a:r>
            <a:endParaRPr lang="en-US" sz="1400" dirty="0"/>
          </a:p>
        </p:txBody>
      </p:sp>
      <p:sp>
        <p:nvSpPr>
          <p:cNvPr id="23" name="Text 21"/>
          <p:cNvSpPr/>
          <p:nvPr/>
        </p:nvSpPr>
        <p:spPr>
          <a:xfrm>
            <a:off x="3328416" y="308152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Scale detection across millions of posts</a:t>
            </a:r>
            <a:endParaRPr lang="en-US" sz="1200" dirty="0"/>
          </a:p>
        </p:txBody>
      </p:sp>
      <p:sp>
        <p:nvSpPr>
          <p:cNvPr id="24" name="Shape 22"/>
          <p:cNvSpPr/>
          <p:nvPr/>
        </p:nvSpPr>
        <p:spPr>
          <a:xfrm>
            <a:off x="6163056" y="2606040"/>
            <a:ext cx="2743200" cy="150876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5" name="Shape 23"/>
          <p:cNvSpPr/>
          <p:nvPr/>
        </p:nvSpPr>
        <p:spPr>
          <a:xfrm>
            <a:off x="6163056" y="2606040"/>
            <a:ext cx="2743200" cy="64008"/>
          </a:xfrm>
          <a:prstGeom prst="rect">
            <a:avLst/>
          </a:prstGeom>
          <a:solidFill>
            <a:srgbClr val="0D9488"/>
          </a:solidFill>
          <a:ln/>
        </p:spPr>
        <p:txBody>
          <a:bodyPr/>
          <a:lstStyle/>
          <a:p>
            <a:endParaRPr lang="en-US"/>
          </a:p>
        </p:txBody>
      </p:sp>
      <p:sp>
        <p:nvSpPr>
          <p:cNvPr id="26" name="Text 24"/>
          <p:cNvSpPr/>
          <p:nvPr/>
        </p:nvSpPr>
        <p:spPr>
          <a:xfrm>
            <a:off x="6272784" y="2715768"/>
            <a:ext cx="2523744"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National Security</a:t>
            </a:r>
            <a:endParaRPr lang="en-US" sz="1400" dirty="0"/>
          </a:p>
        </p:txBody>
      </p:sp>
      <p:sp>
        <p:nvSpPr>
          <p:cNvPr id="27" name="Text 25"/>
          <p:cNvSpPr/>
          <p:nvPr/>
        </p:nvSpPr>
        <p:spPr>
          <a:xfrm>
            <a:off x="6272784" y="3081528"/>
            <a:ext cx="2523744" cy="7772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Detect propaganda imagery manipulation</a:t>
            </a:r>
            <a:endParaRPr lang="en-US" sz="1200" dirty="0"/>
          </a:p>
        </p:txBody>
      </p:sp>
      <p:sp>
        <p:nvSpPr>
          <p:cNvPr id="28" name="Shape 26"/>
          <p:cNvSpPr/>
          <p:nvPr/>
        </p:nvSpPr>
        <p:spPr>
          <a:xfrm>
            <a:off x="0" y="4663440"/>
            <a:ext cx="9144000" cy="480060"/>
          </a:xfrm>
          <a:prstGeom prst="rect">
            <a:avLst/>
          </a:prstGeom>
          <a:solidFill>
            <a:srgbClr val="0D1B3E"/>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Related Works</a:t>
            </a:r>
            <a:endParaRPr lang="en-US" sz="2600" dirty="0"/>
          </a:p>
        </p:txBody>
      </p:sp>
      <p:sp>
        <p:nvSpPr>
          <p:cNvPr id="4" name="Shape 2"/>
          <p:cNvSpPr/>
          <p:nvPr/>
        </p:nvSpPr>
        <p:spPr>
          <a:xfrm>
            <a:off x="274320" y="804672"/>
            <a:ext cx="8595360" cy="530352"/>
          </a:xfrm>
          <a:prstGeom prst="rect">
            <a:avLst/>
          </a:prstGeom>
          <a:solidFill>
            <a:srgbClr val="0D1B3E"/>
          </a:solidFill>
          <a:ln w="6350">
            <a:solidFill>
              <a:srgbClr val="0D1B3E"/>
            </a:solidFill>
            <a:prstDash val="solid"/>
          </a:ln>
        </p:spPr>
        <p:txBody>
          <a:bodyPr/>
          <a:lstStyle/>
          <a:p>
            <a:endParaRPr lang="en-US"/>
          </a:p>
        </p:txBody>
      </p:sp>
      <p:sp>
        <p:nvSpPr>
          <p:cNvPr id="5" name="Text 3"/>
          <p:cNvSpPr/>
          <p:nvPr/>
        </p:nvSpPr>
        <p:spPr>
          <a:xfrm>
            <a:off x="365760" y="877824"/>
            <a:ext cx="155448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p>
        </p:txBody>
      </p:sp>
      <p:sp>
        <p:nvSpPr>
          <p:cNvPr id="6" name="Text 4"/>
          <p:cNvSpPr/>
          <p:nvPr/>
        </p:nvSpPr>
        <p:spPr>
          <a:xfrm>
            <a:off x="2148840" y="877824"/>
            <a:ext cx="14173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Authors / Year</a:t>
            </a:r>
            <a:endParaRPr lang="en-US" sz="1300" dirty="0"/>
          </a:p>
        </p:txBody>
      </p:sp>
      <p:sp>
        <p:nvSpPr>
          <p:cNvPr id="7" name="Text 5"/>
          <p:cNvSpPr/>
          <p:nvPr/>
        </p:nvSpPr>
        <p:spPr>
          <a:xfrm>
            <a:off x="3794760" y="877824"/>
            <a:ext cx="224028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Idea</a:t>
            </a:r>
            <a:endParaRPr lang="en-US" sz="1300" dirty="0"/>
          </a:p>
        </p:txBody>
      </p:sp>
      <p:sp>
        <p:nvSpPr>
          <p:cNvPr id="8" name="Text 6"/>
          <p:cNvSpPr/>
          <p:nvPr/>
        </p:nvSpPr>
        <p:spPr>
          <a:xfrm>
            <a:off x="6263640" y="877824"/>
            <a:ext cx="25603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Relevance</a:t>
            </a:r>
            <a:endParaRPr lang="en-US" sz="1300" dirty="0"/>
          </a:p>
        </p:txBody>
      </p:sp>
      <p:sp>
        <p:nvSpPr>
          <p:cNvPr id="9" name="Shape 7"/>
          <p:cNvSpPr/>
          <p:nvPr/>
        </p:nvSpPr>
        <p:spPr>
          <a:xfrm>
            <a:off x="274320" y="1335024"/>
            <a:ext cx="8595360" cy="530352"/>
          </a:xfrm>
          <a:prstGeom prst="rect">
            <a:avLst/>
          </a:prstGeom>
          <a:solidFill>
            <a:srgbClr val="FFFFFF"/>
          </a:solidFill>
          <a:ln w="6350">
            <a:solidFill>
              <a:srgbClr val="E2E8F0"/>
            </a:solidFill>
            <a:prstDash val="solid"/>
          </a:ln>
        </p:spPr>
        <p:txBody>
          <a:bodyPr/>
          <a:lstStyle/>
          <a:p>
            <a:endParaRPr lang="en-US"/>
          </a:p>
        </p:txBody>
      </p:sp>
      <p:sp>
        <p:nvSpPr>
          <p:cNvPr id="10" name="Text 8"/>
          <p:cNvSpPr/>
          <p:nvPr/>
        </p:nvSpPr>
        <p:spPr>
          <a:xfrm>
            <a:off x="365760" y="1408176"/>
            <a:ext cx="1554480" cy="438912"/>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DCT Block Analysis</a:t>
            </a:r>
            <a:endParaRPr lang="en-US" sz="1100" dirty="0"/>
          </a:p>
        </p:txBody>
      </p:sp>
      <p:sp>
        <p:nvSpPr>
          <p:cNvPr id="11" name="Text 9"/>
          <p:cNvSpPr/>
          <p:nvPr/>
        </p:nvSpPr>
        <p:spPr>
          <a:xfrm>
            <a:off x="2148840" y="1408176"/>
            <a:ext cx="1417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Popescu &amp; Farid, 2004</a:t>
            </a:r>
            <a:endParaRPr lang="en-US" sz="1100" dirty="0"/>
          </a:p>
        </p:txBody>
      </p:sp>
      <p:sp>
        <p:nvSpPr>
          <p:cNvPr id="12" name="Text 10"/>
          <p:cNvSpPr/>
          <p:nvPr/>
        </p:nvSpPr>
        <p:spPr>
          <a:xfrm>
            <a:off x="3794760" y="1408176"/>
            <a:ext cx="224028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Detect duplicate blocks via DCT coefficients</a:t>
            </a:r>
            <a:endParaRPr lang="en-US" sz="1100" dirty="0"/>
          </a:p>
        </p:txBody>
      </p:sp>
      <p:sp>
        <p:nvSpPr>
          <p:cNvPr id="13" name="Text 11"/>
          <p:cNvSpPr/>
          <p:nvPr/>
        </p:nvSpPr>
        <p:spPr>
          <a:xfrm>
            <a:off x="6263640" y="1408176"/>
            <a:ext cx="2560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Motivates our DCT preprocessing</a:t>
            </a:r>
            <a:endParaRPr lang="en-US" sz="1100" dirty="0"/>
          </a:p>
        </p:txBody>
      </p:sp>
      <p:sp>
        <p:nvSpPr>
          <p:cNvPr id="14" name="Shape 12"/>
          <p:cNvSpPr/>
          <p:nvPr/>
        </p:nvSpPr>
        <p:spPr>
          <a:xfrm>
            <a:off x="274320" y="1865376"/>
            <a:ext cx="8595360" cy="530352"/>
          </a:xfrm>
          <a:prstGeom prst="rect">
            <a:avLst/>
          </a:prstGeom>
          <a:solidFill>
            <a:srgbClr val="F0F9F8"/>
          </a:solidFill>
          <a:ln w="6350">
            <a:solidFill>
              <a:srgbClr val="E2E8F0"/>
            </a:solidFill>
            <a:prstDash val="solid"/>
          </a:ln>
        </p:spPr>
        <p:txBody>
          <a:bodyPr/>
          <a:lstStyle/>
          <a:p>
            <a:endParaRPr lang="en-US"/>
          </a:p>
        </p:txBody>
      </p:sp>
      <p:sp>
        <p:nvSpPr>
          <p:cNvPr id="15" name="Text 13"/>
          <p:cNvSpPr/>
          <p:nvPr/>
        </p:nvSpPr>
        <p:spPr>
          <a:xfrm>
            <a:off x="365760" y="1938528"/>
            <a:ext cx="1554480" cy="438912"/>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ManTraNet</a:t>
            </a:r>
            <a:endParaRPr lang="en-US" sz="1100" dirty="0"/>
          </a:p>
        </p:txBody>
      </p:sp>
      <p:sp>
        <p:nvSpPr>
          <p:cNvPr id="16" name="Text 14"/>
          <p:cNvSpPr/>
          <p:nvPr/>
        </p:nvSpPr>
        <p:spPr>
          <a:xfrm>
            <a:off x="2148840" y="1938528"/>
            <a:ext cx="1417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Wu et al., CVPR 2019</a:t>
            </a:r>
            <a:endParaRPr lang="en-US" sz="1100" dirty="0"/>
          </a:p>
        </p:txBody>
      </p:sp>
      <p:sp>
        <p:nvSpPr>
          <p:cNvPr id="17" name="Text 15"/>
          <p:cNvSpPr/>
          <p:nvPr/>
        </p:nvSpPr>
        <p:spPr>
          <a:xfrm>
            <a:off x="3794760" y="1938528"/>
            <a:ext cx="224028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Fully convolutional anomaly map network</a:t>
            </a:r>
            <a:endParaRPr lang="en-US" sz="1100" dirty="0"/>
          </a:p>
        </p:txBody>
      </p:sp>
      <p:sp>
        <p:nvSpPr>
          <p:cNvPr id="18" name="Text 16"/>
          <p:cNvSpPr/>
          <p:nvPr/>
        </p:nvSpPr>
        <p:spPr>
          <a:xfrm>
            <a:off x="6263640" y="1938528"/>
            <a:ext cx="2560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State-of-the-art baseline</a:t>
            </a:r>
            <a:endParaRPr lang="en-US" sz="1100" dirty="0"/>
          </a:p>
        </p:txBody>
      </p:sp>
      <p:sp>
        <p:nvSpPr>
          <p:cNvPr id="19" name="Shape 17"/>
          <p:cNvSpPr/>
          <p:nvPr/>
        </p:nvSpPr>
        <p:spPr>
          <a:xfrm>
            <a:off x="274320" y="2395728"/>
            <a:ext cx="8595360" cy="530352"/>
          </a:xfrm>
          <a:prstGeom prst="rect">
            <a:avLst/>
          </a:prstGeom>
          <a:solidFill>
            <a:srgbClr val="FFFFFF"/>
          </a:solidFill>
          <a:ln w="6350">
            <a:solidFill>
              <a:srgbClr val="E2E8F0"/>
            </a:solidFill>
            <a:prstDash val="solid"/>
          </a:ln>
        </p:spPr>
        <p:txBody>
          <a:bodyPr/>
          <a:lstStyle/>
          <a:p>
            <a:endParaRPr lang="en-US"/>
          </a:p>
        </p:txBody>
      </p:sp>
      <p:sp>
        <p:nvSpPr>
          <p:cNvPr id="20" name="Text 18"/>
          <p:cNvSpPr/>
          <p:nvPr/>
        </p:nvSpPr>
        <p:spPr>
          <a:xfrm>
            <a:off x="365760" y="2468880"/>
            <a:ext cx="1554480" cy="438912"/>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CAT-Net</a:t>
            </a:r>
            <a:endParaRPr lang="en-US" sz="1100" dirty="0"/>
          </a:p>
        </p:txBody>
      </p:sp>
      <p:sp>
        <p:nvSpPr>
          <p:cNvPr id="21" name="Text 19"/>
          <p:cNvSpPr/>
          <p:nvPr/>
        </p:nvSpPr>
        <p:spPr>
          <a:xfrm>
            <a:off x="2148840" y="2468880"/>
            <a:ext cx="1417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Kwon et al., CVPR 2021</a:t>
            </a:r>
            <a:endParaRPr lang="en-US" sz="1100" dirty="0"/>
          </a:p>
        </p:txBody>
      </p:sp>
      <p:sp>
        <p:nvSpPr>
          <p:cNvPr id="22" name="Text 20"/>
          <p:cNvSpPr/>
          <p:nvPr/>
        </p:nvSpPr>
        <p:spPr>
          <a:xfrm>
            <a:off x="3794760" y="2468880"/>
            <a:ext cx="224028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JPEG artifact tracing via DCT + segmentation</a:t>
            </a:r>
            <a:endParaRPr lang="en-US" sz="1100" dirty="0"/>
          </a:p>
        </p:txBody>
      </p:sp>
      <p:sp>
        <p:nvSpPr>
          <p:cNvPr id="23" name="Text 21"/>
          <p:cNvSpPr/>
          <p:nvPr/>
        </p:nvSpPr>
        <p:spPr>
          <a:xfrm>
            <a:off x="6263640" y="2468880"/>
            <a:ext cx="2560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Closest to our approach</a:t>
            </a:r>
            <a:endParaRPr lang="en-US" sz="1100" dirty="0"/>
          </a:p>
        </p:txBody>
      </p:sp>
      <p:sp>
        <p:nvSpPr>
          <p:cNvPr id="24" name="Shape 22"/>
          <p:cNvSpPr/>
          <p:nvPr/>
        </p:nvSpPr>
        <p:spPr>
          <a:xfrm>
            <a:off x="274320" y="2926080"/>
            <a:ext cx="8595360" cy="530352"/>
          </a:xfrm>
          <a:prstGeom prst="rect">
            <a:avLst/>
          </a:prstGeom>
          <a:solidFill>
            <a:srgbClr val="F0F9F8"/>
          </a:solidFill>
          <a:ln w="6350">
            <a:solidFill>
              <a:srgbClr val="E2E8F0"/>
            </a:solidFill>
            <a:prstDash val="solid"/>
          </a:ln>
        </p:spPr>
        <p:txBody>
          <a:bodyPr/>
          <a:lstStyle/>
          <a:p>
            <a:endParaRPr lang="en-US"/>
          </a:p>
        </p:txBody>
      </p:sp>
      <p:sp>
        <p:nvSpPr>
          <p:cNvPr id="25" name="Text 23"/>
          <p:cNvSpPr/>
          <p:nvPr/>
        </p:nvSpPr>
        <p:spPr>
          <a:xfrm>
            <a:off x="365760" y="2999232"/>
            <a:ext cx="1554480" cy="438912"/>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SPAN</a:t>
            </a:r>
            <a:endParaRPr lang="en-US" sz="1100" dirty="0"/>
          </a:p>
        </p:txBody>
      </p:sp>
      <p:sp>
        <p:nvSpPr>
          <p:cNvPr id="26" name="Text 24"/>
          <p:cNvSpPr/>
          <p:nvPr/>
        </p:nvSpPr>
        <p:spPr>
          <a:xfrm>
            <a:off x="2148840" y="2999232"/>
            <a:ext cx="1417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Hu et al., 2020</a:t>
            </a:r>
            <a:endParaRPr lang="en-US" sz="1100" dirty="0"/>
          </a:p>
        </p:txBody>
      </p:sp>
      <p:sp>
        <p:nvSpPr>
          <p:cNvPr id="27" name="Text 25"/>
          <p:cNvSpPr/>
          <p:nvPr/>
        </p:nvSpPr>
        <p:spPr>
          <a:xfrm>
            <a:off x="3794760" y="2999232"/>
            <a:ext cx="224028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Spatial pyramid attention for multi-scale cues</a:t>
            </a:r>
            <a:endParaRPr lang="en-US" sz="1100" dirty="0"/>
          </a:p>
        </p:txBody>
      </p:sp>
      <p:sp>
        <p:nvSpPr>
          <p:cNvPr id="28" name="Text 26"/>
          <p:cNvSpPr/>
          <p:nvPr/>
        </p:nvSpPr>
        <p:spPr>
          <a:xfrm>
            <a:off x="6263640" y="2999232"/>
            <a:ext cx="2560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Multi-scale feature inspiration</a:t>
            </a:r>
            <a:endParaRPr lang="en-US" sz="1100" dirty="0"/>
          </a:p>
        </p:txBody>
      </p:sp>
      <p:sp>
        <p:nvSpPr>
          <p:cNvPr id="29" name="Shape 27"/>
          <p:cNvSpPr/>
          <p:nvPr/>
        </p:nvSpPr>
        <p:spPr>
          <a:xfrm>
            <a:off x="274320" y="3456432"/>
            <a:ext cx="8595360" cy="530352"/>
          </a:xfrm>
          <a:prstGeom prst="rect">
            <a:avLst/>
          </a:prstGeom>
          <a:solidFill>
            <a:srgbClr val="FFFFFF"/>
          </a:solidFill>
          <a:ln w="6350">
            <a:solidFill>
              <a:srgbClr val="E2E8F0"/>
            </a:solidFill>
            <a:prstDash val="solid"/>
          </a:ln>
        </p:spPr>
        <p:txBody>
          <a:bodyPr/>
          <a:lstStyle/>
          <a:p>
            <a:endParaRPr lang="en-US"/>
          </a:p>
        </p:txBody>
      </p:sp>
      <p:sp>
        <p:nvSpPr>
          <p:cNvPr id="30" name="Text 28"/>
          <p:cNvSpPr/>
          <p:nvPr/>
        </p:nvSpPr>
        <p:spPr>
          <a:xfrm>
            <a:off x="365760" y="3529584"/>
            <a:ext cx="1554480" cy="438912"/>
          </a:xfrm>
          <a:prstGeom prst="rect">
            <a:avLst/>
          </a:prstGeom>
          <a:noFill/>
          <a:ln/>
        </p:spPr>
        <p:txBody>
          <a:bodyPr wrap="square"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U-Net</a:t>
            </a:r>
            <a:endParaRPr lang="en-US" sz="1100" dirty="0"/>
          </a:p>
        </p:txBody>
      </p:sp>
      <p:sp>
        <p:nvSpPr>
          <p:cNvPr id="31" name="Text 29"/>
          <p:cNvSpPr/>
          <p:nvPr/>
        </p:nvSpPr>
        <p:spPr>
          <a:xfrm>
            <a:off x="2148840" y="3529584"/>
            <a:ext cx="1417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Ronneberger et al., 2015</a:t>
            </a:r>
            <a:endParaRPr lang="en-US" sz="1100" dirty="0"/>
          </a:p>
        </p:txBody>
      </p:sp>
      <p:sp>
        <p:nvSpPr>
          <p:cNvPr id="32" name="Text 30"/>
          <p:cNvSpPr/>
          <p:nvPr/>
        </p:nvSpPr>
        <p:spPr>
          <a:xfrm>
            <a:off x="3794760" y="3529584"/>
            <a:ext cx="224028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Encoder-decoder with skip connections</a:t>
            </a:r>
            <a:endParaRPr lang="en-US" sz="1100" dirty="0"/>
          </a:p>
        </p:txBody>
      </p:sp>
      <p:sp>
        <p:nvSpPr>
          <p:cNvPr id="33" name="Text 31"/>
          <p:cNvSpPr/>
          <p:nvPr/>
        </p:nvSpPr>
        <p:spPr>
          <a:xfrm>
            <a:off x="6263640" y="3529584"/>
            <a:ext cx="2560320" cy="43891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Core architecture we adopt</a:t>
            </a:r>
            <a:endParaRPr lang="en-US" sz="1100" dirty="0"/>
          </a:p>
        </p:txBody>
      </p:sp>
      <p:sp>
        <p:nvSpPr>
          <p:cNvPr id="34" name="Shape 32"/>
          <p:cNvSpPr/>
          <p:nvPr/>
        </p:nvSpPr>
        <p:spPr>
          <a:xfrm>
            <a:off x="0" y="4846320"/>
            <a:ext cx="9144000" cy="0"/>
          </a:xfrm>
          <a:prstGeom prst="line">
            <a:avLst/>
          </a:prstGeom>
          <a:noFill/>
          <a:ln w="25400">
            <a:solidFill>
              <a:srgbClr val="0D9488"/>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 Pipeline Overview</a:t>
            </a:r>
            <a:endParaRPr lang="en-US" sz="2600" dirty="0"/>
          </a:p>
        </p:txBody>
      </p:sp>
      <p:sp>
        <p:nvSpPr>
          <p:cNvPr id="4" name="Shape 2"/>
          <p:cNvSpPr/>
          <p:nvPr/>
        </p:nvSpPr>
        <p:spPr>
          <a:xfrm>
            <a:off x="182880" y="822960"/>
            <a:ext cx="1600200" cy="2926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5" name="Shape 3"/>
          <p:cNvSpPr/>
          <p:nvPr/>
        </p:nvSpPr>
        <p:spPr>
          <a:xfrm>
            <a:off x="182880" y="822960"/>
            <a:ext cx="1600200" cy="54864"/>
          </a:xfrm>
          <a:prstGeom prst="rect">
            <a:avLst/>
          </a:prstGeom>
          <a:solidFill>
            <a:srgbClr val="0D9488"/>
          </a:solidFill>
          <a:ln/>
        </p:spPr>
        <p:txBody>
          <a:bodyPr/>
          <a:lstStyle/>
          <a:p>
            <a:endParaRPr lang="en-US"/>
          </a:p>
        </p:txBody>
      </p:sp>
      <p:sp>
        <p:nvSpPr>
          <p:cNvPr id="6" name="Shape 4"/>
          <p:cNvSpPr/>
          <p:nvPr/>
        </p:nvSpPr>
        <p:spPr>
          <a:xfrm>
            <a:off x="685800" y="960120"/>
            <a:ext cx="594360" cy="594360"/>
          </a:xfrm>
          <a:prstGeom prst="ellipse">
            <a:avLst/>
          </a:prstGeom>
          <a:solidFill>
            <a:srgbClr val="0D1B3E"/>
          </a:solidFill>
          <a:ln/>
        </p:spPr>
        <p:txBody>
          <a:bodyPr/>
          <a:lstStyle/>
          <a:p>
            <a:endParaRPr lang="en-US"/>
          </a:p>
        </p:txBody>
      </p:sp>
      <p:sp>
        <p:nvSpPr>
          <p:cNvPr id="7" name="Text 5"/>
          <p:cNvSpPr/>
          <p:nvPr/>
        </p:nvSpPr>
        <p:spPr>
          <a:xfrm>
            <a:off x="685800" y="1005840"/>
            <a:ext cx="5943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274320" y="1645920"/>
            <a:ext cx="1417320" cy="411480"/>
          </a:xfrm>
          <a:prstGeom prst="rect">
            <a:avLst/>
          </a:prstGeom>
          <a:noFill/>
          <a:ln/>
        </p:spPr>
        <p:txBody>
          <a:bodyPr wrap="square"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Image Input</a:t>
            </a:r>
            <a:endParaRPr lang="en-US" sz="1300" dirty="0"/>
          </a:p>
        </p:txBody>
      </p:sp>
      <p:sp>
        <p:nvSpPr>
          <p:cNvPr id="9" name="Text 7"/>
          <p:cNvSpPr/>
          <p:nvPr/>
        </p:nvSpPr>
        <p:spPr>
          <a:xfrm>
            <a:off x="274320" y="2103120"/>
            <a:ext cx="1417320" cy="1417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User uploads JPG/PNG via Flask web UI</a:t>
            </a:r>
            <a:endParaRPr lang="en-US" sz="1100" dirty="0"/>
          </a:p>
        </p:txBody>
      </p:sp>
      <p:sp>
        <p:nvSpPr>
          <p:cNvPr id="10" name="Shape 8"/>
          <p:cNvSpPr/>
          <p:nvPr/>
        </p:nvSpPr>
        <p:spPr>
          <a:xfrm>
            <a:off x="1783080" y="2286000"/>
            <a:ext cx="182880" cy="0"/>
          </a:xfrm>
          <a:prstGeom prst="line">
            <a:avLst/>
          </a:prstGeom>
          <a:noFill/>
          <a:ln w="25400">
            <a:solidFill>
              <a:srgbClr val="0D9488"/>
            </a:solidFill>
            <a:prstDash val="solid"/>
          </a:ln>
        </p:spPr>
        <p:txBody>
          <a:bodyPr/>
          <a:lstStyle/>
          <a:p>
            <a:endParaRPr lang="en-US"/>
          </a:p>
        </p:txBody>
      </p:sp>
      <p:sp>
        <p:nvSpPr>
          <p:cNvPr id="11" name="Shape 9"/>
          <p:cNvSpPr/>
          <p:nvPr/>
        </p:nvSpPr>
        <p:spPr>
          <a:xfrm>
            <a:off x="1965960" y="822960"/>
            <a:ext cx="1600200" cy="2926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2" name="Shape 10"/>
          <p:cNvSpPr/>
          <p:nvPr/>
        </p:nvSpPr>
        <p:spPr>
          <a:xfrm>
            <a:off x="1965960" y="822960"/>
            <a:ext cx="1600200" cy="54864"/>
          </a:xfrm>
          <a:prstGeom prst="rect">
            <a:avLst/>
          </a:prstGeom>
          <a:solidFill>
            <a:srgbClr val="0D9488"/>
          </a:solidFill>
          <a:ln/>
        </p:spPr>
        <p:txBody>
          <a:bodyPr/>
          <a:lstStyle/>
          <a:p>
            <a:endParaRPr lang="en-US"/>
          </a:p>
        </p:txBody>
      </p:sp>
      <p:sp>
        <p:nvSpPr>
          <p:cNvPr id="13" name="Shape 11"/>
          <p:cNvSpPr/>
          <p:nvPr/>
        </p:nvSpPr>
        <p:spPr>
          <a:xfrm>
            <a:off x="2468880" y="960120"/>
            <a:ext cx="594360" cy="594360"/>
          </a:xfrm>
          <a:prstGeom prst="ellipse">
            <a:avLst/>
          </a:prstGeom>
          <a:solidFill>
            <a:srgbClr val="0D1B3E"/>
          </a:solidFill>
          <a:ln/>
        </p:spPr>
        <p:txBody>
          <a:bodyPr/>
          <a:lstStyle/>
          <a:p>
            <a:endParaRPr lang="en-US"/>
          </a:p>
        </p:txBody>
      </p:sp>
      <p:sp>
        <p:nvSpPr>
          <p:cNvPr id="14" name="Text 12"/>
          <p:cNvSpPr/>
          <p:nvPr/>
        </p:nvSpPr>
        <p:spPr>
          <a:xfrm>
            <a:off x="2468880" y="1005840"/>
            <a:ext cx="5943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2057400" y="1645920"/>
            <a:ext cx="1417320" cy="411480"/>
          </a:xfrm>
          <a:prstGeom prst="rect">
            <a:avLst/>
          </a:prstGeom>
          <a:noFill/>
          <a:ln/>
        </p:spPr>
        <p:txBody>
          <a:bodyPr wrap="square"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DCT Preprocessing</a:t>
            </a:r>
            <a:endParaRPr lang="en-US" sz="1300" dirty="0"/>
          </a:p>
        </p:txBody>
      </p:sp>
      <p:sp>
        <p:nvSpPr>
          <p:cNvPr id="16" name="Text 14"/>
          <p:cNvSpPr/>
          <p:nvPr/>
        </p:nvSpPr>
        <p:spPr>
          <a:xfrm>
            <a:off x="2057400" y="2103120"/>
            <a:ext cx="1417320" cy="1417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8×8 block DCT converts image to frequency domain</a:t>
            </a:r>
            <a:endParaRPr lang="en-US" sz="1100" dirty="0"/>
          </a:p>
        </p:txBody>
      </p:sp>
      <p:sp>
        <p:nvSpPr>
          <p:cNvPr id="17" name="Shape 15"/>
          <p:cNvSpPr/>
          <p:nvPr/>
        </p:nvSpPr>
        <p:spPr>
          <a:xfrm>
            <a:off x="3566160" y="2286000"/>
            <a:ext cx="182880" cy="0"/>
          </a:xfrm>
          <a:prstGeom prst="line">
            <a:avLst/>
          </a:prstGeom>
          <a:noFill/>
          <a:ln w="25400">
            <a:solidFill>
              <a:srgbClr val="0D9488"/>
            </a:solidFill>
            <a:prstDash val="solid"/>
          </a:ln>
        </p:spPr>
        <p:txBody>
          <a:bodyPr/>
          <a:lstStyle/>
          <a:p>
            <a:endParaRPr lang="en-US"/>
          </a:p>
        </p:txBody>
      </p:sp>
      <p:sp>
        <p:nvSpPr>
          <p:cNvPr id="18" name="Shape 16"/>
          <p:cNvSpPr/>
          <p:nvPr/>
        </p:nvSpPr>
        <p:spPr>
          <a:xfrm>
            <a:off x="3749040" y="822960"/>
            <a:ext cx="1600200" cy="2926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9" name="Shape 17"/>
          <p:cNvSpPr/>
          <p:nvPr/>
        </p:nvSpPr>
        <p:spPr>
          <a:xfrm>
            <a:off x="3749040" y="822960"/>
            <a:ext cx="1600200" cy="54864"/>
          </a:xfrm>
          <a:prstGeom prst="rect">
            <a:avLst/>
          </a:prstGeom>
          <a:solidFill>
            <a:srgbClr val="0D9488"/>
          </a:solidFill>
          <a:ln/>
        </p:spPr>
        <p:txBody>
          <a:bodyPr/>
          <a:lstStyle/>
          <a:p>
            <a:endParaRPr lang="en-US"/>
          </a:p>
        </p:txBody>
      </p:sp>
      <p:sp>
        <p:nvSpPr>
          <p:cNvPr id="20" name="Shape 18"/>
          <p:cNvSpPr/>
          <p:nvPr/>
        </p:nvSpPr>
        <p:spPr>
          <a:xfrm>
            <a:off x="4251960" y="960120"/>
            <a:ext cx="594360" cy="594360"/>
          </a:xfrm>
          <a:prstGeom prst="ellipse">
            <a:avLst/>
          </a:prstGeom>
          <a:solidFill>
            <a:srgbClr val="0D1B3E"/>
          </a:solidFill>
          <a:ln/>
        </p:spPr>
        <p:txBody>
          <a:bodyPr/>
          <a:lstStyle/>
          <a:p>
            <a:endParaRPr lang="en-US"/>
          </a:p>
        </p:txBody>
      </p:sp>
      <p:sp>
        <p:nvSpPr>
          <p:cNvPr id="21" name="Text 19"/>
          <p:cNvSpPr/>
          <p:nvPr/>
        </p:nvSpPr>
        <p:spPr>
          <a:xfrm>
            <a:off x="4251960" y="1005840"/>
            <a:ext cx="5943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3840480" y="1645920"/>
            <a:ext cx="1417320" cy="411480"/>
          </a:xfrm>
          <a:prstGeom prst="rect">
            <a:avLst/>
          </a:prstGeom>
          <a:noFill/>
          <a:ln/>
        </p:spPr>
        <p:txBody>
          <a:bodyPr wrap="square"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U-Net Inference</a:t>
            </a:r>
            <a:endParaRPr lang="en-US" sz="1300" dirty="0"/>
          </a:p>
        </p:txBody>
      </p:sp>
      <p:sp>
        <p:nvSpPr>
          <p:cNvPr id="23" name="Text 21"/>
          <p:cNvSpPr/>
          <p:nvPr/>
        </p:nvSpPr>
        <p:spPr>
          <a:xfrm>
            <a:off x="3840480" y="2103120"/>
            <a:ext cx="1417320" cy="1417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Encoder-decoder predicts pixel-level forgery mask</a:t>
            </a:r>
            <a:endParaRPr lang="en-US" sz="1100" dirty="0"/>
          </a:p>
        </p:txBody>
      </p:sp>
      <p:sp>
        <p:nvSpPr>
          <p:cNvPr id="24" name="Shape 22"/>
          <p:cNvSpPr/>
          <p:nvPr/>
        </p:nvSpPr>
        <p:spPr>
          <a:xfrm>
            <a:off x="5349240" y="2286000"/>
            <a:ext cx="182880" cy="0"/>
          </a:xfrm>
          <a:prstGeom prst="line">
            <a:avLst/>
          </a:prstGeom>
          <a:noFill/>
          <a:ln w="25400">
            <a:solidFill>
              <a:srgbClr val="0D9488"/>
            </a:solidFill>
            <a:prstDash val="solid"/>
          </a:ln>
        </p:spPr>
        <p:txBody>
          <a:bodyPr/>
          <a:lstStyle/>
          <a:p>
            <a:endParaRPr lang="en-US"/>
          </a:p>
        </p:txBody>
      </p:sp>
      <p:sp>
        <p:nvSpPr>
          <p:cNvPr id="25" name="Shape 23"/>
          <p:cNvSpPr/>
          <p:nvPr/>
        </p:nvSpPr>
        <p:spPr>
          <a:xfrm>
            <a:off x="5532120" y="822960"/>
            <a:ext cx="1600200" cy="2926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6" name="Shape 24"/>
          <p:cNvSpPr/>
          <p:nvPr/>
        </p:nvSpPr>
        <p:spPr>
          <a:xfrm>
            <a:off x="5532120" y="822960"/>
            <a:ext cx="1600200" cy="54864"/>
          </a:xfrm>
          <a:prstGeom prst="rect">
            <a:avLst/>
          </a:prstGeom>
          <a:solidFill>
            <a:srgbClr val="0D9488"/>
          </a:solidFill>
          <a:ln/>
        </p:spPr>
        <p:txBody>
          <a:bodyPr/>
          <a:lstStyle/>
          <a:p>
            <a:endParaRPr lang="en-US"/>
          </a:p>
        </p:txBody>
      </p:sp>
      <p:sp>
        <p:nvSpPr>
          <p:cNvPr id="27" name="Shape 25"/>
          <p:cNvSpPr/>
          <p:nvPr/>
        </p:nvSpPr>
        <p:spPr>
          <a:xfrm>
            <a:off x="6035040" y="960120"/>
            <a:ext cx="594360" cy="594360"/>
          </a:xfrm>
          <a:prstGeom prst="ellipse">
            <a:avLst/>
          </a:prstGeom>
          <a:solidFill>
            <a:srgbClr val="0D1B3E"/>
          </a:solidFill>
          <a:ln/>
        </p:spPr>
        <p:txBody>
          <a:bodyPr/>
          <a:lstStyle/>
          <a:p>
            <a:endParaRPr lang="en-US"/>
          </a:p>
        </p:txBody>
      </p:sp>
      <p:sp>
        <p:nvSpPr>
          <p:cNvPr id="28" name="Text 26"/>
          <p:cNvSpPr/>
          <p:nvPr/>
        </p:nvSpPr>
        <p:spPr>
          <a:xfrm>
            <a:off x="6035040" y="1005840"/>
            <a:ext cx="5943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5623560" y="1645920"/>
            <a:ext cx="1417320" cy="411480"/>
          </a:xfrm>
          <a:prstGeom prst="rect">
            <a:avLst/>
          </a:prstGeom>
          <a:noFill/>
          <a:ln/>
        </p:spPr>
        <p:txBody>
          <a:bodyPr wrap="square"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Thresholding</a:t>
            </a:r>
            <a:endParaRPr lang="en-US" sz="1300" dirty="0"/>
          </a:p>
        </p:txBody>
      </p:sp>
      <p:sp>
        <p:nvSpPr>
          <p:cNvPr id="30" name="Text 28"/>
          <p:cNvSpPr/>
          <p:nvPr/>
        </p:nvSpPr>
        <p:spPr>
          <a:xfrm>
            <a:off x="5623560" y="2103120"/>
            <a:ext cx="1417320" cy="1417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Sigmoid output → binary mask via adaptive threshold</a:t>
            </a:r>
            <a:endParaRPr lang="en-US" sz="1100" dirty="0"/>
          </a:p>
        </p:txBody>
      </p:sp>
      <p:sp>
        <p:nvSpPr>
          <p:cNvPr id="31" name="Shape 29"/>
          <p:cNvSpPr/>
          <p:nvPr/>
        </p:nvSpPr>
        <p:spPr>
          <a:xfrm>
            <a:off x="7132320" y="2286000"/>
            <a:ext cx="182880" cy="0"/>
          </a:xfrm>
          <a:prstGeom prst="line">
            <a:avLst/>
          </a:prstGeom>
          <a:noFill/>
          <a:ln w="25400">
            <a:solidFill>
              <a:srgbClr val="0D9488"/>
            </a:solidFill>
            <a:prstDash val="solid"/>
          </a:ln>
        </p:spPr>
        <p:txBody>
          <a:bodyPr/>
          <a:lstStyle/>
          <a:p>
            <a:endParaRPr lang="en-US"/>
          </a:p>
        </p:txBody>
      </p:sp>
      <p:sp>
        <p:nvSpPr>
          <p:cNvPr id="32" name="Shape 30"/>
          <p:cNvSpPr/>
          <p:nvPr/>
        </p:nvSpPr>
        <p:spPr>
          <a:xfrm>
            <a:off x="7315200" y="822960"/>
            <a:ext cx="1600200" cy="292608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33" name="Shape 31"/>
          <p:cNvSpPr/>
          <p:nvPr/>
        </p:nvSpPr>
        <p:spPr>
          <a:xfrm>
            <a:off x="7315200" y="822960"/>
            <a:ext cx="1600200" cy="54864"/>
          </a:xfrm>
          <a:prstGeom prst="rect">
            <a:avLst/>
          </a:prstGeom>
          <a:solidFill>
            <a:srgbClr val="0D9488"/>
          </a:solidFill>
          <a:ln/>
        </p:spPr>
        <p:txBody>
          <a:bodyPr/>
          <a:lstStyle/>
          <a:p>
            <a:endParaRPr lang="en-US"/>
          </a:p>
        </p:txBody>
      </p:sp>
      <p:sp>
        <p:nvSpPr>
          <p:cNvPr id="34" name="Shape 32"/>
          <p:cNvSpPr/>
          <p:nvPr/>
        </p:nvSpPr>
        <p:spPr>
          <a:xfrm>
            <a:off x="7818120" y="960120"/>
            <a:ext cx="594360" cy="594360"/>
          </a:xfrm>
          <a:prstGeom prst="ellipse">
            <a:avLst/>
          </a:prstGeom>
          <a:solidFill>
            <a:srgbClr val="0D1B3E"/>
          </a:solidFill>
          <a:ln/>
        </p:spPr>
        <p:txBody>
          <a:bodyPr/>
          <a:lstStyle/>
          <a:p>
            <a:endParaRPr lang="en-US"/>
          </a:p>
        </p:txBody>
      </p:sp>
      <p:sp>
        <p:nvSpPr>
          <p:cNvPr id="35" name="Text 33"/>
          <p:cNvSpPr/>
          <p:nvPr/>
        </p:nvSpPr>
        <p:spPr>
          <a:xfrm>
            <a:off x="7818120" y="1005840"/>
            <a:ext cx="5943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6" name="Text 34"/>
          <p:cNvSpPr/>
          <p:nvPr/>
        </p:nvSpPr>
        <p:spPr>
          <a:xfrm>
            <a:off x="7406640" y="1645920"/>
            <a:ext cx="1417320" cy="411480"/>
          </a:xfrm>
          <a:prstGeom prst="rect">
            <a:avLst/>
          </a:prstGeom>
          <a:noFill/>
          <a:ln/>
        </p:spPr>
        <p:txBody>
          <a:bodyPr wrap="square"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Classification</a:t>
            </a:r>
            <a:endParaRPr lang="en-US" sz="1300" dirty="0"/>
          </a:p>
        </p:txBody>
      </p:sp>
      <p:sp>
        <p:nvSpPr>
          <p:cNvPr id="37" name="Text 35"/>
          <p:cNvSpPr/>
          <p:nvPr/>
        </p:nvSpPr>
        <p:spPr>
          <a:xfrm>
            <a:off x="7406640" y="2103120"/>
            <a:ext cx="1417320" cy="1417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 forged pixels determines REAL vs FORGED label</a:t>
            </a:r>
            <a:endParaRPr lang="en-US" sz="1100" dirty="0"/>
          </a:p>
        </p:txBody>
      </p:sp>
      <p:sp>
        <p:nvSpPr>
          <p:cNvPr id="38" name="Shape 36"/>
          <p:cNvSpPr/>
          <p:nvPr/>
        </p:nvSpPr>
        <p:spPr>
          <a:xfrm>
            <a:off x="274320" y="3931920"/>
            <a:ext cx="8595360" cy="914400"/>
          </a:xfrm>
          <a:prstGeom prst="rect">
            <a:avLst/>
          </a:prstGeom>
          <a:solidFill>
            <a:srgbClr val="EBF8FF"/>
          </a:solidFill>
          <a:ln/>
          <a:effectLst>
            <a:outerShdw blurRad="101600" dist="38100" dir="8100000" algn="bl" rotWithShape="0">
              <a:srgbClr val="000000">
                <a:alpha val="15000"/>
              </a:srgbClr>
            </a:outerShdw>
          </a:effectLst>
        </p:spPr>
        <p:txBody>
          <a:bodyPr/>
          <a:lstStyle/>
          <a:p>
            <a:endParaRPr lang="en-US"/>
          </a:p>
        </p:txBody>
      </p:sp>
      <p:sp>
        <p:nvSpPr>
          <p:cNvPr id="39" name="Shape 37"/>
          <p:cNvSpPr/>
          <p:nvPr/>
        </p:nvSpPr>
        <p:spPr>
          <a:xfrm>
            <a:off x="274320" y="3931920"/>
            <a:ext cx="64008" cy="914400"/>
          </a:xfrm>
          <a:prstGeom prst="rect">
            <a:avLst/>
          </a:prstGeom>
          <a:solidFill>
            <a:srgbClr val="0D9488"/>
          </a:solidFill>
          <a:ln/>
        </p:spPr>
        <p:txBody>
          <a:bodyPr/>
          <a:lstStyle/>
          <a:p>
            <a:endParaRPr lang="en-US"/>
          </a:p>
        </p:txBody>
      </p:sp>
      <p:sp>
        <p:nvSpPr>
          <p:cNvPr id="40" name="Text 38"/>
          <p:cNvSpPr/>
          <p:nvPr/>
        </p:nvSpPr>
        <p:spPr>
          <a:xfrm>
            <a:off x="475488" y="3995928"/>
            <a:ext cx="3200400" cy="32004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U-Net Architecture</a:t>
            </a:r>
            <a:endParaRPr lang="en-US" sz="1400" dirty="0"/>
          </a:p>
        </p:txBody>
      </p:sp>
      <p:sp>
        <p:nvSpPr>
          <p:cNvPr id="41" name="Text 39"/>
          <p:cNvSpPr/>
          <p:nvPr/>
        </p:nvSpPr>
        <p:spPr>
          <a:xfrm>
            <a:off x="475488" y="4343400"/>
            <a:ext cx="8229600" cy="411480"/>
          </a:xfrm>
          <a:prstGeom prst="rect">
            <a:avLst/>
          </a:prstGeom>
          <a:noFill/>
          <a:ln/>
        </p:spPr>
        <p:txBody>
          <a:bodyPr wrap="square"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Encoder </a:t>
            </a:r>
            <a:r>
              <a:rPr lang="en-US" sz="1300" dirty="0">
                <a:solidFill>
                  <a:srgbClr val="0D1B3E"/>
                </a:solidFill>
                <a:latin typeface="Calibri" pitchFamily="34" charset="0"/>
                <a:ea typeface="Calibri" pitchFamily="34" charset="-122"/>
                <a:cs typeface="Calibri" pitchFamily="34" charset="-120"/>
              </a:rPr>
              <a:t>(conv blocks + max-pool)  -&gt;  </a:t>
            </a:r>
            <a:r>
              <a:rPr lang="en-US" sz="1300" b="1" dirty="0">
                <a:solidFill>
                  <a:srgbClr val="0D1B3E"/>
                </a:solidFill>
                <a:latin typeface="Calibri" pitchFamily="34" charset="0"/>
                <a:ea typeface="Calibri" pitchFamily="34" charset="-122"/>
                <a:cs typeface="Calibri" pitchFamily="34" charset="-120"/>
              </a:rPr>
              <a:t>Bottleneck </a:t>
            </a:r>
            <a:r>
              <a:rPr lang="en-US" sz="1300" dirty="0">
                <a:solidFill>
                  <a:srgbClr val="0D1B3E"/>
                </a:solidFill>
                <a:latin typeface="Calibri" pitchFamily="34" charset="0"/>
                <a:ea typeface="Calibri" pitchFamily="34" charset="-122"/>
                <a:cs typeface="Calibri" pitchFamily="34" charset="-120"/>
              </a:rPr>
              <a:t>(global context)  -&gt;  </a:t>
            </a:r>
            <a:r>
              <a:rPr lang="en-US" sz="1300" b="1" dirty="0">
                <a:solidFill>
                  <a:srgbClr val="0D1B3E"/>
                </a:solidFill>
                <a:latin typeface="Calibri" pitchFamily="34" charset="0"/>
                <a:ea typeface="Calibri" pitchFamily="34" charset="-122"/>
                <a:cs typeface="Calibri" pitchFamily="34" charset="-120"/>
              </a:rPr>
              <a:t>Decoder </a:t>
            </a:r>
            <a:r>
              <a:rPr lang="en-US" sz="1300" dirty="0">
                <a:solidFill>
                  <a:srgbClr val="0D1B3E"/>
                </a:solidFill>
                <a:latin typeface="Calibri" pitchFamily="34" charset="0"/>
                <a:ea typeface="Calibri" pitchFamily="34" charset="-122"/>
                <a:cs typeface="Calibri" pitchFamily="34" charset="-120"/>
              </a:rPr>
              <a:t>(upsample + skip connections)  -&gt;  </a:t>
            </a:r>
            <a:r>
              <a:rPr lang="en-US" sz="1300" b="1" dirty="0">
                <a:solidFill>
                  <a:srgbClr val="0D9488"/>
                </a:solidFill>
                <a:latin typeface="Calibri" pitchFamily="34" charset="0"/>
                <a:ea typeface="Calibri" pitchFamily="34" charset="-122"/>
                <a:cs typeface="Calibri" pitchFamily="34" charset="-120"/>
              </a:rPr>
              <a:t>Sigmoid mask output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Code Structure &amp; Reproduction</a:t>
            </a:r>
            <a:endParaRPr lang="en-US" sz="2600" dirty="0"/>
          </a:p>
        </p:txBody>
      </p:sp>
      <p:sp>
        <p:nvSpPr>
          <p:cNvPr id="4" name="Shape 2"/>
          <p:cNvSpPr/>
          <p:nvPr/>
        </p:nvSpPr>
        <p:spPr>
          <a:xfrm>
            <a:off x="274320" y="822960"/>
            <a:ext cx="3931920" cy="4023360"/>
          </a:xfrm>
          <a:prstGeom prst="rect">
            <a:avLst/>
          </a:prstGeom>
          <a:solidFill>
            <a:srgbClr val="0D1B3E"/>
          </a:solidFill>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457200" y="914400"/>
            <a:ext cx="3566160" cy="320040"/>
          </a:xfrm>
          <a:prstGeom prst="rect">
            <a:avLst/>
          </a:prstGeom>
          <a:noFill/>
          <a:ln/>
        </p:spPr>
        <p:txBody>
          <a:bodyPr wrap="square" rtlCol="0" anchor="ctr"/>
          <a:lstStyle/>
          <a:p>
            <a:pPr marL="0" indent="0">
              <a:buNone/>
            </a:pPr>
            <a:r>
              <a:rPr lang="en-US" sz="1300" b="1" dirty="0">
                <a:solidFill>
                  <a:srgbClr val="14B8A6"/>
                </a:solidFill>
                <a:latin typeface="Consolas" pitchFamily="34" charset="0"/>
                <a:ea typeface="Consolas" pitchFamily="34" charset="-122"/>
                <a:cs typeface="Consolas" pitchFamily="34" charset="-120"/>
              </a:rPr>
              <a:t>image-forgery-detector/</a:t>
            </a:r>
            <a:endParaRPr lang="en-US" sz="1300" dirty="0"/>
          </a:p>
        </p:txBody>
      </p:sp>
      <p:sp>
        <p:nvSpPr>
          <p:cNvPr id="6" name="Text 4"/>
          <p:cNvSpPr/>
          <p:nvPr/>
        </p:nvSpPr>
        <p:spPr>
          <a:xfrm>
            <a:off x="457200" y="1280160"/>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app.py           ← Flask server + routes</a:t>
            </a:r>
            <a:endParaRPr lang="en-US" sz="1100" dirty="0"/>
          </a:p>
        </p:txBody>
      </p:sp>
      <p:sp>
        <p:nvSpPr>
          <p:cNvPr id="7" name="Text 5"/>
          <p:cNvSpPr/>
          <p:nvPr/>
        </p:nvSpPr>
        <p:spPr>
          <a:xfrm>
            <a:off x="457200" y="1572768"/>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model/</a:t>
            </a:r>
            <a:endParaRPr lang="en-US" sz="1100" dirty="0"/>
          </a:p>
        </p:txBody>
      </p:sp>
      <p:sp>
        <p:nvSpPr>
          <p:cNvPr id="8" name="Text 6"/>
          <p:cNvSpPr/>
          <p:nvPr/>
        </p:nvSpPr>
        <p:spPr>
          <a:xfrm>
            <a:off x="457200" y="1865376"/>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 unet_dct.h5 ← Trained Keras model</a:t>
            </a:r>
            <a:endParaRPr lang="en-US" sz="1100" dirty="0"/>
          </a:p>
        </p:txBody>
      </p:sp>
      <p:sp>
        <p:nvSpPr>
          <p:cNvPr id="9" name="Text 7"/>
          <p:cNvSpPr/>
          <p:nvPr/>
        </p:nvSpPr>
        <p:spPr>
          <a:xfrm>
            <a:off x="457200" y="2157984"/>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utils/</a:t>
            </a:r>
            <a:endParaRPr lang="en-US" sz="1100" dirty="0"/>
          </a:p>
        </p:txBody>
      </p:sp>
      <p:sp>
        <p:nvSpPr>
          <p:cNvPr id="10" name="Text 8"/>
          <p:cNvSpPr/>
          <p:nvPr/>
        </p:nvSpPr>
        <p:spPr>
          <a:xfrm>
            <a:off x="457200" y="2450592"/>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 dct.py      ← DCT preprocessing</a:t>
            </a:r>
            <a:endParaRPr lang="en-US" sz="1100" dirty="0"/>
          </a:p>
        </p:txBody>
      </p:sp>
      <p:sp>
        <p:nvSpPr>
          <p:cNvPr id="11" name="Text 9"/>
          <p:cNvSpPr/>
          <p:nvPr/>
        </p:nvSpPr>
        <p:spPr>
          <a:xfrm>
            <a:off x="457200" y="2743200"/>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 predict.py  ← Inference pipeline</a:t>
            </a:r>
            <a:endParaRPr lang="en-US" sz="1100" dirty="0"/>
          </a:p>
        </p:txBody>
      </p:sp>
      <p:sp>
        <p:nvSpPr>
          <p:cNvPr id="12" name="Text 10"/>
          <p:cNvSpPr/>
          <p:nvPr/>
        </p:nvSpPr>
        <p:spPr>
          <a:xfrm>
            <a:off x="457200" y="3035808"/>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templates/</a:t>
            </a:r>
            <a:endParaRPr lang="en-US" sz="1100" dirty="0"/>
          </a:p>
        </p:txBody>
      </p:sp>
      <p:sp>
        <p:nvSpPr>
          <p:cNvPr id="13" name="Text 11"/>
          <p:cNvSpPr/>
          <p:nvPr/>
        </p:nvSpPr>
        <p:spPr>
          <a:xfrm>
            <a:off x="457200" y="3328416"/>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 index.html  ← Bootstrap UI</a:t>
            </a:r>
            <a:endParaRPr lang="en-US" sz="1100" dirty="0"/>
          </a:p>
        </p:txBody>
      </p:sp>
      <p:sp>
        <p:nvSpPr>
          <p:cNvPr id="14" name="Text 12"/>
          <p:cNvSpPr/>
          <p:nvPr/>
        </p:nvSpPr>
        <p:spPr>
          <a:xfrm>
            <a:off x="457200" y="3621024"/>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static/         ← CSS / result images</a:t>
            </a:r>
            <a:endParaRPr lang="en-US" sz="1100" dirty="0"/>
          </a:p>
        </p:txBody>
      </p:sp>
      <p:sp>
        <p:nvSpPr>
          <p:cNvPr id="15" name="Text 13"/>
          <p:cNvSpPr/>
          <p:nvPr/>
        </p:nvSpPr>
        <p:spPr>
          <a:xfrm>
            <a:off x="457200" y="3913632"/>
            <a:ext cx="3566160" cy="256032"/>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  └── requirements.txt</a:t>
            </a:r>
            <a:endParaRPr lang="en-US" sz="1100" dirty="0"/>
          </a:p>
        </p:txBody>
      </p:sp>
      <p:sp>
        <p:nvSpPr>
          <p:cNvPr id="16" name="Shape 14"/>
          <p:cNvSpPr/>
          <p:nvPr/>
        </p:nvSpPr>
        <p:spPr>
          <a:xfrm>
            <a:off x="4480560" y="822960"/>
            <a:ext cx="4389120" cy="192024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7" name="Shape 15"/>
          <p:cNvSpPr/>
          <p:nvPr/>
        </p:nvSpPr>
        <p:spPr>
          <a:xfrm>
            <a:off x="4480560" y="822960"/>
            <a:ext cx="4389120" cy="54864"/>
          </a:xfrm>
          <a:prstGeom prst="rect">
            <a:avLst/>
          </a:prstGeom>
          <a:solidFill>
            <a:srgbClr val="0D9488"/>
          </a:solidFill>
          <a:ln/>
        </p:spPr>
        <p:txBody>
          <a:bodyPr/>
          <a:lstStyle/>
          <a:p>
            <a:endParaRPr lang="en-US"/>
          </a:p>
        </p:txBody>
      </p:sp>
      <p:sp>
        <p:nvSpPr>
          <p:cNvPr id="18" name="Text 16"/>
          <p:cNvSpPr/>
          <p:nvPr/>
        </p:nvSpPr>
        <p:spPr>
          <a:xfrm>
            <a:off x="4617720" y="914400"/>
            <a:ext cx="4114800"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Quick Start (Python 3.10+)</a:t>
            </a:r>
            <a:endParaRPr lang="en-US" sz="1400" dirty="0"/>
          </a:p>
        </p:txBody>
      </p:sp>
      <p:sp>
        <p:nvSpPr>
          <p:cNvPr id="19" name="Text 17"/>
          <p:cNvSpPr/>
          <p:nvPr/>
        </p:nvSpPr>
        <p:spPr>
          <a:xfrm>
            <a:off x="4617720" y="1325880"/>
            <a:ext cx="4114800" cy="246888"/>
          </a:xfrm>
          <a:prstGeom prst="rect">
            <a:avLst/>
          </a:prstGeom>
          <a:noFill/>
          <a:ln/>
        </p:spPr>
        <p:txBody>
          <a:bodyPr wrap="square"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 git clone &lt;repo-url&gt;</a:t>
            </a:r>
            <a:endParaRPr lang="en-US" sz="1100" dirty="0"/>
          </a:p>
        </p:txBody>
      </p:sp>
      <p:sp>
        <p:nvSpPr>
          <p:cNvPr id="20" name="Text 18"/>
          <p:cNvSpPr/>
          <p:nvPr/>
        </p:nvSpPr>
        <p:spPr>
          <a:xfrm>
            <a:off x="4617720" y="1600200"/>
            <a:ext cx="4114800" cy="246888"/>
          </a:xfrm>
          <a:prstGeom prst="rect">
            <a:avLst/>
          </a:prstGeom>
          <a:noFill/>
          <a:ln/>
        </p:spPr>
        <p:txBody>
          <a:bodyPr wrap="square"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 python -m venv venv &amp;&amp; source venv/bin/activate</a:t>
            </a:r>
            <a:endParaRPr lang="en-US" sz="1100" dirty="0"/>
          </a:p>
        </p:txBody>
      </p:sp>
      <p:sp>
        <p:nvSpPr>
          <p:cNvPr id="21" name="Text 19"/>
          <p:cNvSpPr/>
          <p:nvPr/>
        </p:nvSpPr>
        <p:spPr>
          <a:xfrm>
            <a:off x="4617720" y="1874520"/>
            <a:ext cx="4114800" cy="246888"/>
          </a:xfrm>
          <a:prstGeom prst="rect">
            <a:avLst/>
          </a:prstGeom>
          <a:noFill/>
          <a:ln/>
        </p:spPr>
        <p:txBody>
          <a:bodyPr wrap="square"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 pip install -r requirements.txt</a:t>
            </a:r>
            <a:endParaRPr lang="en-US" sz="1100" dirty="0"/>
          </a:p>
        </p:txBody>
      </p:sp>
      <p:sp>
        <p:nvSpPr>
          <p:cNvPr id="22" name="Text 20"/>
          <p:cNvSpPr/>
          <p:nvPr/>
        </p:nvSpPr>
        <p:spPr>
          <a:xfrm>
            <a:off x="4617720" y="2148840"/>
            <a:ext cx="4114800" cy="246888"/>
          </a:xfrm>
          <a:prstGeom prst="rect">
            <a:avLst/>
          </a:prstGeom>
          <a:noFill/>
          <a:ln/>
        </p:spPr>
        <p:txBody>
          <a:bodyPr wrap="square"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 git lfs pull       # download model</a:t>
            </a:r>
            <a:endParaRPr lang="en-US" sz="1100" dirty="0"/>
          </a:p>
        </p:txBody>
      </p:sp>
      <p:sp>
        <p:nvSpPr>
          <p:cNvPr id="23" name="Text 21"/>
          <p:cNvSpPr/>
          <p:nvPr/>
        </p:nvSpPr>
        <p:spPr>
          <a:xfrm>
            <a:off x="4617720" y="2423160"/>
            <a:ext cx="4114800" cy="246888"/>
          </a:xfrm>
          <a:prstGeom prst="rect">
            <a:avLst/>
          </a:prstGeom>
          <a:noFill/>
          <a:ln/>
        </p:spPr>
        <p:txBody>
          <a:bodyPr wrap="square"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 flask run          # → localhost:5000</a:t>
            </a:r>
            <a:endParaRPr lang="en-US" sz="1100" dirty="0"/>
          </a:p>
        </p:txBody>
      </p:sp>
      <p:sp>
        <p:nvSpPr>
          <p:cNvPr id="24" name="Shape 22"/>
          <p:cNvSpPr/>
          <p:nvPr/>
        </p:nvSpPr>
        <p:spPr>
          <a:xfrm>
            <a:off x="4480560" y="2926080"/>
            <a:ext cx="4389120" cy="192024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5" name="Shape 23"/>
          <p:cNvSpPr/>
          <p:nvPr/>
        </p:nvSpPr>
        <p:spPr>
          <a:xfrm>
            <a:off x="4480560" y="2926080"/>
            <a:ext cx="4389120" cy="54864"/>
          </a:xfrm>
          <a:prstGeom prst="rect">
            <a:avLst/>
          </a:prstGeom>
          <a:solidFill>
            <a:srgbClr val="0D1B3E"/>
          </a:solidFill>
          <a:ln/>
        </p:spPr>
        <p:txBody>
          <a:bodyPr/>
          <a:lstStyle/>
          <a:p>
            <a:endParaRPr lang="en-US"/>
          </a:p>
        </p:txBody>
      </p:sp>
      <p:sp>
        <p:nvSpPr>
          <p:cNvPr id="26" name="Text 24"/>
          <p:cNvSpPr/>
          <p:nvPr/>
        </p:nvSpPr>
        <p:spPr>
          <a:xfrm>
            <a:off x="4617720" y="3017520"/>
            <a:ext cx="4114800" cy="347472"/>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Key Dependencies</a:t>
            </a:r>
            <a:endParaRPr lang="en-US" sz="1400" dirty="0"/>
          </a:p>
        </p:txBody>
      </p:sp>
      <p:sp>
        <p:nvSpPr>
          <p:cNvPr id="27" name="Text 25"/>
          <p:cNvSpPr/>
          <p:nvPr/>
        </p:nvSpPr>
        <p:spPr>
          <a:xfrm>
            <a:off x="4617720" y="3429000"/>
            <a:ext cx="4114800" cy="2743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  Python 3.10+  ·  Git + Git LFS</a:t>
            </a:r>
            <a:endParaRPr lang="en-US" sz="1200" dirty="0"/>
          </a:p>
        </p:txBody>
      </p:sp>
      <p:sp>
        <p:nvSpPr>
          <p:cNvPr id="28" name="Text 26"/>
          <p:cNvSpPr/>
          <p:nvPr/>
        </p:nvSpPr>
        <p:spPr>
          <a:xfrm>
            <a:off x="4617720" y="3758184"/>
            <a:ext cx="4114800" cy="2743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  tensorflow 2.x  ·  flask 3.0</a:t>
            </a:r>
            <a:endParaRPr lang="en-US" sz="1200" dirty="0"/>
          </a:p>
        </p:txBody>
      </p:sp>
      <p:sp>
        <p:nvSpPr>
          <p:cNvPr id="29" name="Text 27"/>
          <p:cNvSpPr/>
          <p:nvPr/>
        </p:nvSpPr>
        <p:spPr>
          <a:xfrm>
            <a:off x="4617720" y="4087368"/>
            <a:ext cx="4114800" cy="2743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  opencv-python  ·  numpy</a:t>
            </a:r>
            <a:endParaRPr lang="en-US" sz="1200" dirty="0"/>
          </a:p>
        </p:txBody>
      </p:sp>
      <p:sp>
        <p:nvSpPr>
          <p:cNvPr id="30" name="Text 28"/>
          <p:cNvSpPr/>
          <p:nvPr/>
        </p:nvSpPr>
        <p:spPr>
          <a:xfrm>
            <a:off x="4617720" y="4416552"/>
            <a:ext cx="4114800" cy="2743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  gunicorn (production)  ·  Pillow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Demo Walkthrough</a:t>
            </a:r>
            <a:endParaRPr lang="en-US" sz="2600" dirty="0"/>
          </a:p>
        </p:txBody>
      </p:sp>
      <p:sp>
        <p:nvSpPr>
          <p:cNvPr id="4" name="Shape 2"/>
          <p:cNvSpPr/>
          <p:nvPr/>
        </p:nvSpPr>
        <p:spPr>
          <a:xfrm>
            <a:off x="274320" y="822960"/>
            <a:ext cx="4023360" cy="141732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5" name="Shape 3"/>
          <p:cNvSpPr/>
          <p:nvPr/>
        </p:nvSpPr>
        <p:spPr>
          <a:xfrm>
            <a:off x="274320" y="822960"/>
            <a:ext cx="54864" cy="1417320"/>
          </a:xfrm>
          <a:prstGeom prst="rect">
            <a:avLst/>
          </a:prstGeom>
          <a:solidFill>
            <a:srgbClr val="0D9488"/>
          </a:solidFill>
          <a:ln/>
        </p:spPr>
        <p:txBody>
          <a:bodyPr/>
          <a:lstStyle/>
          <a:p>
            <a:endParaRPr lang="en-US"/>
          </a:p>
        </p:txBody>
      </p:sp>
      <p:sp>
        <p:nvSpPr>
          <p:cNvPr id="6" name="Text 4"/>
          <p:cNvSpPr/>
          <p:nvPr/>
        </p:nvSpPr>
        <p:spPr>
          <a:xfrm>
            <a:off x="457200" y="932688"/>
            <a:ext cx="3749040" cy="347472"/>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Input</a:t>
            </a:r>
            <a:endParaRPr lang="en-US" sz="1600" dirty="0"/>
          </a:p>
        </p:txBody>
      </p:sp>
      <p:sp>
        <p:nvSpPr>
          <p:cNvPr id="7" name="Text 5"/>
          <p:cNvSpPr/>
          <p:nvPr/>
        </p:nvSpPr>
        <p:spPr>
          <a:xfrm>
            <a:off x="457200" y="1325880"/>
            <a:ext cx="3749040" cy="7772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User uploads image via web form (JPG / PNG)</a:t>
            </a:r>
            <a:endParaRPr lang="en-US" sz="1300" dirty="0"/>
          </a:p>
        </p:txBody>
      </p:sp>
      <p:sp>
        <p:nvSpPr>
          <p:cNvPr id="8" name="Shape 6"/>
          <p:cNvSpPr/>
          <p:nvPr/>
        </p:nvSpPr>
        <p:spPr>
          <a:xfrm>
            <a:off x="4572000" y="822960"/>
            <a:ext cx="4023360" cy="141732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9" name="Shape 7"/>
          <p:cNvSpPr/>
          <p:nvPr/>
        </p:nvSpPr>
        <p:spPr>
          <a:xfrm>
            <a:off x="4572000" y="822960"/>
            <a:ext cx="54864" cy="1417320"/>
          </a:xfrm>
          <a:prstGeom prst="rect">
            <a:avLst/>
          </a:prstGeom>
          <a:solidFill>
            <a:srgbClr val="0D9488"/>
          </a:solidFill>
          <a:ln/>
        </p:spPr>
        <p:txBody>
          <a:bodyPr/>
          <a:lstStyle/>
          <a:p>
            <a:endParaRPr lang="en-US"/>
          </a:p>
        </p:txBody>
      </p:sp>
      <p:sp>
        <p:nvSpPr>
          <p:cNvPr id="10" name="Text 8"/>
          <p:cNvSpPr/>
          <p:nvPr/>
        </p:nvSpPr>
        <p:spPr>
          <a:xfrm>
            <a:off x="4754880" y="932688"/>
            <a:ext cx="3749040" cy="347472"/>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DCT Map</a:t>
            </a:r>
            <a:endParaRPr lang="en-US" sz="1600" dirty="0"/>
          </a:p>
        </p:txBody>
      </p:sp>
      <p:sp>
        <p:nvSpPr>
          <p:cNvPr id="11" name="Text 9"/>
          <p:cNvSpPr/>
          <p:nvPr/>
        </p:nvSpPr>
        <p:spPr>
          <a:xfrm>
            <a:off x="4754880" y="1325880"/>
            <a:ext cx="3749040" cy="7772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8×8 block DCT creates frequency-domain representation</a:t>
            </a:r>
            <a:endParaRPr lang="en-US" sz="1300" dirty="0"/>
          </a:p>
        </p:txBody>
      </p:sp>
      <p:sp>
        <p:nvSpPr>
          <p:cNvPr id="12" name="Shape 10"/>
          <p:cNvSpPr/>
          <p:nvPr/>
        </p:nvSpPr>
        <p:spPr>
          <a:xfrm>
            <a:off x="274320" y="2468880"/>
            <a:ext cx="4023360" cy="141732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3" name="Shape 11"/>
          <p:cNvSpPr/>
          <p:nvPr/>
        </p:nvSpPr>
        <p:spPr>
          <a:xfrm>
            <a:off x="274320" y="2468880"/>
            <a:ext cx="54864" cy="1417320"/>
          </a:xfrm>
          <a:prstGeom prst="rect">
            <a:avLst/>
          </a:prstGeom>
          <a:solidFill>
            <a:srgbClr val="0D9488"/>
          </a:solidFill>
          <a:ln/>
        </p:spPr>
        <p:txBody>
          <a:bodyPr/>
          <a:lstStyle/>
          <a:p>
            <a:endParaRPr lang="en-US"/>
          </a:p>
        </p:txBody>
      </p:sp>
      <p:sp>
        <p:nvSpPr>
          <p:cNvPr id="14" name="Text 12"/>
          <p:cNvSpPr/>
          <p:nvPr/>
        </p:nvSpPr>
        <p:spPr>
          <a:xfrm>
            <a:off x="457200" y="2578608"/>
            <a:ext cx="3749040" cy="347472"/>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Mask</a:t>
            </a:r>
            <a:endParaRPr lang="en-US" sz="1600" dirty="0"/>
          </a:p>
        </p:txBody>
      </p:sp>
      <p:sp>
        <p:nvSpPr>
          <p:cNvPr id="15" name="Text 13"/>
          <p:cNvSpPr/>
          <p:nvPr/>
        </p:nvSpPr>
        <p:spPr>
          <a:xfrm>
            <a:off x="457200" y="2971800"/>
            <a:ext cx="3749040" cy="7772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U-Net outputs probability heatmap highlighting suspicious regions</a:t>
            </a:r>
            <a:endParaRPr lang="en-US" sz="1300" dirty="0"/>
          </a:p>
        </p:txBody>
      </p:sp>
      <p:sp>
        <p:nvSpPr>
          <p:cNvPr id="16" name="Shape 14"/>
          <p:cNvSpPr/>
          <p:nvPr/>
        </p:nvSpPr>
        <p:spPr>
          <a:xfrm>
            <a:off x="4572000" y="2468880"/>
            <a:ext cx="4023360" cy="1417320"/>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7" name="Shape 15"/>
          <p:cNvSpPr/>
          <p:nvPr/>
        </p:nvSpPr>
        <p:spPr>
          <a:xfrm>
            <a:off x="4572000" y="2468880"/>
            <a:ext cx="54864" cy="1417320"/>
          </a:xfrm>
          <a:prstGeom prst="rect">
            <a:avLst/>
          </a:prstGeom>
          <a:solidFill>
            <a:srgbClr val="0D9488"/>
          </a:solidFill>
          <a:ln/>
        </p:spPr>
        <p:txBody>
          <a:bodyPr/>
          <a:lstStyle/>
          <a:p>
            <a:endParaRPr lang="en-US"/>
          </a:p>
        </p:txBody>
      </p:sp>
      <p:sp>
        <p:nvSpPr>
          <p:cNvPr id="18" name="Text 16"/>
          <p:cNvSpPr/>
          <p:nvPr/>
        </p:nvSpPr>
        <p:spPr>
          <a:xfrm>
            <a:off x="4754880" y="2578608"/>
            <a:ext cx="3749040" cy="347472"/>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Verdict</a:t>
            </a:r>
            <a:endParaRPr lang="en-US" sz="1600" dirty="0"/>
          </a:p>
        </p:txBody>
      </p:sp>
      <p:sp>
        <p:nvSpPr>
          <p:cNvPr id="19" name="Text 17"/>
          <p:cNvSpPr/>
          <p:nvPr/>
        </p:nvSpPr>
        <p:spPr>
          <a:xfrm>
            <a:off x="4754880" y="2971800"/>
            <a:ext cx="3749040" cy="7772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REAL or FORGED label with percentage of manipulated pixels</a:t>
            </a:r>
            <a:endParaRPr lang="en-US" sz="1300" dirty="0"/>
          </a:p>
        </p:txBody>
      </p:sp>
      <p:sp>
        <p:nvSpPr>
          <p:cNvPr id="20" name="Shape 18"/>
          <p:cNvSpPr/>
          <p:nvPr/>
        </p:nvSpPr>
        <p:spPr>
          <a:xfrm>
            <a:off x="274320" y="4160520"/>
            <a:ext cx="8595360" cy="685800"/>
          </a:xfrm>
          <a:prstGeom prst="rect">
            <a:avLst/>
          </a:prstGeom>
          <a:solidFill>
            <a:srgbClr val="0D1B3E"/>
          </a:solidFill>
          <a:ln/>
          <a:effectLst>
            <a:outerShdw blurRad="101600" dist="38100" dir="8100000" algn="bl" rotWithShape="0">
              <a:srgbClr val="000000">
                <a:alpha val="15000"/>
              </a:srgbClr>
            </a:outerShdw>
          </a:effectLst>
        </p:spPr>
        <p:txBody>
          <a:bodyPr/>
          <a:lstStyle/>
          <a:p>
            <a:endParaRPr lang="en-US"/>
          </a:p>
        </p:txBody>
      </p:sp>
      <p:sp>
        <p:nvSpPr>
          <p:cNvPr id="21" name="Text 19"/>
          <p:cNvSpPr/>
          <p:nvPr/>
        </p:nvSpPr>
        <p:spPr>
          <a:xfrm>
            <a:off x="457200" y="4251960"/>
            <a:ext cx="8229600" cy="502920"/>
          </a:xfrm>
          <a:prstGeom prst="rect">
            <a:avLst/>
          </a:prstGeom>
          <a:noFill/>
          <a:ln/>
        </p:spPr>
        <p:txBody>
          <a:bodyPr wrap="square" rtlCol="0" anchor="ctr"/>
          <a:lstStyle/>
          <a:p>
            <a:pPr marL="0" indent="0">
              <a:buNone/>
            </a:pPr>
            <a:r>
              <a:rPr lang="en-US" sz="1200" b="1" dirty="0">
                <a:solidFill>
                  <a:srgbClr val="14B8A6"/>
                </a:solidFill>
                <a:latin typeface="Calibri" pitchFamily="34" charset="0"/>
                <a:ea typeface="Calibri" pitchFamily="34" charset="-122"/>
                <a:cs typeface="Calibri" pitchFamily="34" charset="-120"/>
              </a:rPr>
              <a:t>Classification Logic:  </a:t>
            </a:r>
            <a:r>
              <a:rPr lang="en-US" sz="1200" dirty="0">
                <a:solidFill>
                  <a:srgbClr val="CBD5E1"/>
                </a:solidFill>
                <a:latin typeface="Calibri" pitchFamily="34" charset="0"/>
                <a:ea typeface="Calibri" pitchFamily="34" charset="-122"/>
                <a:cs typeface="Calibri" pitchFamily="34" charset="-120"/>
              </a:rPr>
              <a:t>If pixel % above threshold -&gt;  FORGED , Mask is overlaid on original image for visual inspection ,Threshold tunable per use-case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3E"/>
          </a:solidFill>
          <a:ln/>
        </p:spPr>
        <p:txBody>
          <a:bodyPr/>
          <a:lstStyle/>
          <a:p>
            <a:endParaRPr lang="en-US"/>
          </a:p>
        </p:txBody>
      </p:sp>
      <p:sp>
        <p:nvSpPr>
          <p:cNvPr id="3" name="Text 1"/>
          <p:cNvSpPr/>
          <p:nvPr/>
        </p:nvSpPr>
        <p:spPr>
          <a:xfrm>
            <a:off x="274320" y="91440"/>
            <a:ext cx="85953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a:t>
            </a:r>
            <a:endParaRPr lang="en-US" sz="2600" dirty="0"/>
          </a:p>
        </p:txBody>
      </p:sp>
      <p:sp>
        <p:nvSpPr>
          <p:cNvPr id="4" name="Shape 2"/>
          <p:cNvSpPr/>
          <p:nvPr/>
        </p:nvSpPr>
        <p:spPr>
          <a:xfrm>
            <a:off x="274320" y="82296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5" name="Shape 3"/>
          <p:cNvSpPr/>
          <p:nvPr/>
        </p:nvSpPr>
        <p:spPr>
          <a:xfrm>
            <a:off x="274320" y="822960"/>
            <a:ext cx="4114800" cy="45720"/>
          </a:xfrm>
          <a:prstGeom prst="rect">
            <a:avLst/>
          </a:prstGeom>
          <a:solidFill>
            <a:srgbClr val="E53E3E"/>
          </a:solidFill>
          <a:ln/>
        </p:spPr>
        <p:txBody>
          <a:bodyPr/>
          <a:lstStyle/>
          <a:p>
            <a:endParaRPr lang="en-US"/>
          </a:p>
        </p:txBody>
      </p:sp>
      <p:sp>
        <p:nvSpPr>
          <p:cNvPr id="6" name="Text 4"/>
          <p:cNvSpPr/>
          <p:nvPr/>
        </p:nvSpPr>
        <p:spPr>
          <a:xfrm>
            <a:off x="411480" y="91440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 Dataset Bias</a:t>
            </a:r>
            <a:endParaRPr lang="en-US" sz="1400" dirty="0"/>
          </a:p>
        </p:txBody>
      </p:sp>
      <p:sp>
        <p:nvSpPr>
          <p:cNvPr id="7" name="Text 5"/>
          <p:cNvSpPr/>
          <p:nvPr/>
        </p:nvSpPr>
        <p:spPr>
          <a:xfrm>
            <a:off x="411480" y="132588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Trained on CoMoFoD only , may not generalize to unseen image domains or demographics.</a:t>
            </a:r>
            <a:endParaRPr lang="en-US" sz="1200" dirty="0"/>
          </a:p>
        </p:txBody>
      </p:sp>
      <p:sp>
        <p:nvSpPr>
          <p:cNvPr id="8" name="Shape 6"/>
          <p:cNvSpPr/>
          <p:nvPr/>
        </p:nvSpPr>
        <p:spPr>
          <a:xfrm>
            <a:off x="4754880" y="82296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9" name="Shape 7"/>
          <p:cNvSpPr/>
          <p:nvPr/>
        </p:nvSpPr>
        <p:spPr>
          <a:xfrm>
            <a:off x="4754880" y="822960"/>
            <a:ext cx="4114800" cy="45720"/>
          </a:xfrm>
          <a:prstGeom prst="rect">
            <a:avLst/>
          </a:prstGeom>
          <a:solidFill>
            <a:srgbClr val="E53E3E"/>
          </a:solidFill>
          <a:ln/>
        </p:spPr>
        <p:txBody>
          <a:bodyPr/>
          <a:lstStyle/>
          <a:p>
            <a:endParaRPr lang="en-US"/>
          </a:p>
        </p:txBody>
      </p:sp>
      <p:sp>
        <p:nvSpPr>
          <p:cNvPr id="10" name="Text 8"/>
          <p:cNvSpPr/>
          <p:nvPr/>
        </p:nvSpPr>
        <p:spPr>
          <a:xfrm>
            <a:off x="4892040" y="91440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Forgery Type Coverage</a:t>
            </a:r>
            <a:endParaRPr lang="en-US" sz="1400" dirty="0"/>
          </a:p>
        </p:txBody>
      </p:sp>
      <p:sp>
        <p:nvSpPr>
          <p:cNvPr id="11" name="Text 9"/>
          <p:cNvSpPr/>
          <p:nvPr/>
        </p:nvSpPr>
        <p:spPr>
          <a:xfrm>
            <a:off x="4892040" y="132588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Does not detect inpainting, deepfakes, GAN-generated content, or lighting manipulation.</a:t>
            </a:r>
            <a:endParaRPr lang="en-US" sz="1200" dirty="0"/>
          </a:p>
        </p:txBody>
      </p:sp>
      <p:sp>
        <p:nvSpPr>
          <p:cNvPr id="12" name="Shape 10"/>
          <p:cNvSpPr/>
          <p:nvPr/>
        </p:nvSpPr>
        <p:spPr>
          <a:xfrm>
            <a:off x="274320" y="228600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3" name="Shape 11"/>
          <p:cNvSpPr/>
          <p:nvPr/>
        </p:nvSpPr>
        <p:spPr>
          <a:xfrm>
            <a:off x="274320" y="2286000"/>
            <a:ext cx="4114800" cy="45720"/>
          </a:xfrm>
          <a:prstGeom prst="rect">
            <a:avLst/>
          </a:prstGeom>
          <a:solidFill>
            <a:srgbClr val="E53E3E"/>
          </a:solidFill>
          <a:ln/>
        </p:spPr>
        <p:txBody>
          <a:bodyPr/>
          <a:lstStyle/>
          <a:p>
            <a:endParaRPr lang="en-US"/>
          </a:p>
        </p:txBody>
      </p:sp>
      <p:sp>
        <p:nvSpPr>
          <p:cNvPr id="14" name="Text 12"/>
          <p:cNvSpPr/>
          <p:nvPr/>
        </p:nvSpPr>
        <p:spPr>
          <a:xfrm>
            <a:off x="411480" y="237744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JPEG Sensitivity</a:t>
            </a:r>
            <a:endParaRPr lang="en-US" sz="1400" dirty="0"/>
          </a:p>
        </p:txBody>
      </p:sp>
      <p:sp>
        <p:nvSpPr>
          <p:cNvPr id="15" name="Text 13"/>
          <p:cNvSpPr/>
          <p:nvPr/>
        </p:nvSpPr>
        <p:spPr>
          <a:xfrm>
            <a:off x="411480" y="278892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Heavy compression degrades DCT coefficients, reducing detection accuracy.</a:t>
            </a:r>
            <a:endParaRPr lang="en-US" sz="1200" dirty="0"/>
          </a:p>
        </p:txBody>
      </p:sp>
      <p:sp>
        <p:nvSpPr>
          <p:cNvPr id="16" name="Shape 14"/>
          <p:cNvSpPr/>
          <p:nvPr/>
        </p:nvSpPr>
        <p:spPr>
          <a:xfrm>
            <a:off x="4754880" y="228600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17" name="Shape 15"/>
          <p:cNvSpPr/>
          <p:nvPr/>
        </p:nvSpPr>
        <p:spPr>
          <a:xfrm>
            <a:off x="4754880" y="2286000"/>
            <a:ext cx="4114800" cy="45720"/>
          </a:xfrm>
          <a:prstGeom prst="rect">
            <a:avLst/>
          </a:prstGeom>
          <a:solidFill>
            <a:srgbClr val="E53E3E"/>
          </a:solidFill>
          <a:ln/>
        </p:spPr>
        <p:txBody>
          <a:bodyPr/>
          <a:lstStyle/>
          <a:p>
            <a:endParaRPr lang="en-US"/>
          </a:p>
        </p:txBody>
      </p:sp>
      <p:sp>
        <p:nvSpPr>
          <p:cNvPr id="18" name="Text 16"/>
          <p:cNvSpPr/>
          <p:nvPr/>
        </p:nvSpPr>
        <p:spPr>
          <a:xfrm>
            <a:off x="4892040" y="237744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Threshold Tuning</a:t>
            </a:r>
            <a:endParaRPr lang="en-US" sz="1400" dirty="0"/>
          </a:p>
        </p:txBody>
      </p:sp>
      <p:sp>
        <p:nvSpPr>
          <p:cNvPr id="19" name="Text 17"/>
          <p:cNvSpPr/>
          <p:nvPr/>
        </p:nvSpPr>
        <p:spPr>
          <a:xfrm>
            <a:off x="4892040" y="278892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REAL/FORGED threshold is empirical and may need domain-specific adjustment.</a:t>
            </a:r>
            <a:endParaRPr lang="en-US" sz="1200" dirty="0"/>
          </a:p>
        </p:txBody>
      </p:sp>
      <p:sp>
        <p:nvSpPr>
          <p:cNvPr id="20" name="Shape 18"/>
          <p:cNvSpPr/>
          <p:nvPr/>
        </p:nvSpPr>
        <p:spPr>
          <a:xfrm>
            <a:off x="274320" y="374904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1" name="Shape 19"/>
          <p:cNvSpPr/>
          <p:nvPr/>
        </p:nvSpPr>
        <p:spPr>
          <a:xfrm>
            <a:off x="274320" y="3749040"/>
            <a:ext cx="4114800" cy="45720"/>
          </a:xfrm>
          <a:prstGeom prst="rect">
            <a:avLst/>
          </a:prstGeom>
          <a:solidFill>
            <a:srgbClr val="E53E3E"/>
          </a:solidFill>
          <a:ln/>
        </p:spPr>
        <p:txBody>
          <a:bodyPr/>
          <a:lstStyle/>
          <a:p>
            <a:endParaRPr lang="en-US"/>
          </a:p>
        </p:txBody>
      </p:sp>
      <p:sp>
        <p:nvSpPr>
          <p:cNvPr id="22" name="Text 20"/>
          <p:cNvSpPr/>
          <p:nvPr/>
        </p:nvSpPr>
        <p:spPr>
          <a:xfrm>
            <a:off x="411480" y="384048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No Adversarial Hardening</a:t>
            </a:r>
            <a:endParaRPr lang="en-US" sz="1400" dirty="0"/>
          </a:p>
        </p:txBody>
      </p:sp>
      <p:sp>
        <p:nvSpPr>
          <p:cNvPr id="23" name="Text 21"/>
          <p:cNvSpPr/>
          <p:nvPr/>
        </p:nvSpPr>
        <p:spPr>
          <a:xfrm>
            <a:off x="411480" y="425196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Crafted adversarial perturbations could fool the model into misclassifying forgeries.</a:t>
            </a:r>
            <a:endParaRPr lang="en-US" sz="1200" dirty="0"/>
          </a:p>
        </p:txBody>
      </p:sp>
      <p:sp>
        <p:nvSpPr>
          <p:cNvPr id="24" name="Shape 22"/>
          <p:cNvSpPr/>
          <p:nvPr/>
        </p:nvSpPr>
        <p:spPr>
          <a:xfrm>
            <a:off x="4754880" y="3749040"/>
            <a:ext cx="4114800" cy="1261872"/>
          </a:xfrm>
          <a:prstGeom prst="rect">
            <a:avLst/>
          </a:prstGeom>
          <a:solidFill>
            <a:srgbClr val="F0F9F8"/>
          </a:solidFill>
          <a:ln/>
          <a:effectLst>
            <a:outerShdw blurRad="101600" dist="38100" dir="8100000" algn="bl" rotWithShape="0">
              <a:srgbClr val="000000">
                <a:alpha val="15000"/>
              </a:srgbClr>
            </a:outerShdw>
          </a:effectLst>
        </p:spPr>
        <p:txBody>
          <a:bodyPr/>
          <a:lstStyle/>
          <a:p>
            <a:endParaRPr lang="en-US"/>
          </a:p>
        </p:txBody>
      </p:sp>
      <p:sp>
        <p:nvSpPr>
          <p:cNvPr id="25" name="Shape 23"/>
          <p:cNvSpPr/>
          <p:nvPr/>
        </p:nvSpPr>
        <p:spPr>
          <a:xfrm>
            <a:off x="4754880" y="3749040"/>
            <a:ext cx="4114800" cy="45720"/>
          </a:xfrm>
          <a:prstGeom prst="rect">
            <a:avLst/>
          </a:prstGeom>
          <a:solidFill>
            <a:srgbClr val="E53E3E"/>
          </a:solidFill>
          <a:ln/>
        </p:spPr>
        <p:txBody>
          <a:bodyPr/>
          <a:lstStyle/>
          <a:p>
            <a:endParaRPr lang="en-US"/>
          </a:p>
        </p:txBody>
      </p:sp>
      <p:sp>
        <p:nvSpPr>
          <p:cNvPr id="26" name="Text 24"/>
          <p:cNvSpPr/>
          <p:nvPr/>
        </p:nvSpPr>
        <p:spPr>
          <a:xfrm>
            <a:off x="4892040" y="3840480"/>
            <a:ext cx="3840480" cy="365760"/>
          </a:xfrm>
          <a:prstGeom prst="rect">
            <a:avLst/>
          </a:prstGeom>
          <a:noFill/>
          <a:ln/>
        </p:spPr>
        <p:txBody>
          <a:bodyPr wrap="square"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AI-Generated Images</a:t>
            </a:r>
            <a:endParaRPr lang="en-US" sz="1400" dirty="0"/>
          </a:p>
        </p:txBody>
      </p:sp>
      <p:sp>
        <p:nvSpPr>
          <p:cNvPr id="27" name="Text 25"/>
          <p:cNvSpPr/>
          <p:nvPr/>
        </p:nvSpPr>
        <p:spPr>
          <a:xfrm>
            <a:off x="4892040" y="4251960"/>
            <a:ext cx="3840480" cy="65836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Diffusion model inpainting and deepfakes are not covered by the training distribution.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txBody>
          <a:bodyPr/>
          <a:lstStyle/>
          <a:p>
            <a:endParaRPr lang="en-US"/>
          </a:p>
        </p:txBody>
      </p:sp>
      <p:sp>
        <p:nvSpPr>
          <p:cNvPr id="3" name="Text 1"/>
          <p:cNvSpPr/>
          <p:nvPr/>
        </p:nvSpPr>
        <p:spPr>
          <a:xfrm>
            <a:off x="365760" y="320040"/>
            <a:ext cx="8412480" cy="502920"/>
          </a:xfrm>
          <a:prstGeom prst="rect">
            <a:avLst/>
          </a:prstGeom>
          <a:noFill/>
          <a:ln/>
        </p:spPr>
        <p:txBody>
          <a:bodyPr wrap="square" rtlCol="0" anchor="ctr"/>
          <a:lstStyle/>
          <a:p>
            <a:pPr marL="0" indent="0">
              <a:buNone/>
            </a:pPr>
            <a:r>
              <a:rPr lang="en-US" sz="3000" b="1" dirty="0">
                <a:solidFill>
                  <a:srgbClr val="14B8A6"/>
                </a:solidFill>
                <a:latin typeface="Calibri" pitchFamily="34" charset="0"/>
                <a:ea typeface="Calibri" pitchFamily="34" charset="-122"/>
                <a:cs typeface="Calibri" pitchFamily="34" charset="-120"/>
              </a:rPr>
              <a:t>Elevator Pitch</a:t>
            </a:r>
            <a:endParaRPr lang="en-US" sz="3000" dirty="0"/>
          </a:p>
        </p:txBody>
      </p:sp>
      <p:sp>
        <p:nvSpPr>
          <p:cNvPr id="4" name="Shape 2"/>
          <p:cNvSpPr/>
          <p:nvPr/>
        </p:nvSpPr>
        <p:spPr>
          <a:xfrm>
            <a:off x="365760" y="868680"/>
            <a:ext cx="3657600" cy="36576"/>
          </a:xfrm>
          <a:prstGeom prst="rect">
            <a:avLst/>
          </a:prstGeom>
          <a:solidFill>
            <a:srgbClr val="0D9488"/>
          </a:solidFill>
          <a:ln/>
        </p:spPr>
        <p:txBody>
          <a:bodyPr/>
          <a:lstStyle/>
          <a:p>
            <a:endParaRPr lang="en-US"/>
          </a:p>
        </p:txBody>
      </p:sp>
      <p:sp>
        <p:nvSpPr>
          <p:cNvPr id="5" name="Text 3"/>
          <p:cNvSpPr/>
          <p:nvPr/>
        </p:nvSpPr>
        <p:spPr>
          <a:xfrm>
            <a:off x="365760" y="1005840"/>
            <a:ext cx="8412480" cy="3474720"/>
          </a:xfrm>
          <a:prstGeom prst="rect">
            <a:avLst/>
          </a:prstGeom>
          <a:noFill/>
          <a:ln/>
        </p:spPr>
        <p:txBody>
          <a:bodyPr wrap="square" rtlCol="0" anchor="t"/>
          <a:lstStyle/>
          <a:p>
            <a:pPr marL="0" indent="0">
              <a:buNone/>
            </a:pPr>
            <a:r>
              <a:rPr lang="en-US" sz="1400" dirty="0">
                <a:solidFill>
                  <a:srgbClr val="CBD5E1"/>
                </a:solidFill>
                <a:latin typeface="Calibri" pitchFamily="34" charset="0"/>
                <a:ea typeface="Calibri" pitchFamily="34" charset="-122"/>
                <a:cs typeface="Calibri" pitchFamily="34" charset="-120"/>
              </a:rPr>
              <a:t>"Every day, millions of manipulated images circulate online , shaping public opinion, corrupting legal evidence, and eroding trust in visual media. Our system is an AI-powered image forensics tool that analyzes any photo in seconds and tells you , with a pixel-level heatmap , exactly where it was tampered with and whether it's real or fake.</a:t>
            </a:r>
            <a:endParaRPr lang="en-US" sz="1400" dirty="0"/>
          </a:p>
          <a:p>
            <a:pPr marL="0" indent="0">
              <a:buNone/>
            </a:pP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Unlike manual expert analysis that costs thousands of dollars and takes days, our solution runs in the browser, works instantly, and scales to any volume. We're targeting news agencies, insurance providers, law enforcement, and social media platforms , anyone who needs trustworthy images at scale.</a:t>
            </a:r>
            <a:endParaRPr lang="en-US" sz="1400" dirty="0"/>
          </a:p>
          <a:p>
            <a:pPr marL="0" indent="0">
              <a:buNone/>
            </a:pP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Think of us as a smoke detector for image fraud."</a:t>
            </a:r>
            <a:endParaRPr lang="en-US" sz="1400" dirty="0"/>
          </a:p>
        </p:txBody>
      </p:sp>
      <p:sp>
        <p:nvSpPr>
          <p:cNvPr id="7" name="Text 5"/>
          <p:cNvSpPr/>
          <p:nvPr/>
        </p:nvSpPr>
        <p:spPr>
          <a:xfrm>
            <a:off x="274320" y="4754880"/>
            <a:ext cx="8595360" cy="274320"/>
          </a:xfrm>
          <a:prstGeom prst="rect">
            <a:avLst/>
          </a:prstGeom>
          <a:noFill/>
          <a:ln/>
        </p:spPr>
        <p:txBody>
          <a:bodyPr wrap="square" lIns="91440" tIns="45720" rIns="91440" bIns="45720" rtlCol="0" anchor="ctr"/>
          <a:lstStyle/>
          <a:p>
            <a:pPr marL="0" indent="0">
              <a:buNone/>
            </a:pPr>
            <a:endParaRPr lang="en-US" sz="1300" b="1">
              <a:solidFill>
                <a:srgbClr val="FFFFFF"/>
              </a:solidFill>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841</Words>
  <Application>Microsoft Macintosh PowerPoint</Application>
  <PresentationFormat>On-screen Show (16:9)</PresentationFormat>
  <Paragraphs>136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Forgery Detection Using Deep Learning</dc:title>
  <dc:subject>PptxGenJS Presentation</dc:subject>
  <dc:creator>Image Forgery Detection Team</dc:creator>
  <cp:lastModifiedBy>Patlolla, Deeksha Reddy</cp:lastModifiedBy>
  <cp:revision>2</cp:revision>
  <dcterms:created xsi:type="dcterms:W3CDTF">2026-05-09T01:00:43Z</dcterms:created>
  <dcterms:modified xsi:type="dcterms:W3CDTF">2026-05-09T03:28:37Z</dcterms:modified>
</cp:coreProperties>
</file>